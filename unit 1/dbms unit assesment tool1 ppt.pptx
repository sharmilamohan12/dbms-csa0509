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0" r:id="rId5"/>
    <p:sldId id="259" r:id="rId6"/>
    <p:sldId id="261" r:id="rId7"/>
    <p:sldId id="262" r:id="rId8"/>
    <p:sldId id="263" r:id="rId9"/>
    <p:sldId id="264" r:id="rId10"/>
    <p:sldId id="265" r:id="rId11"/>
    <p:sldId id="266" r:id="rId12"/>
    <p:sldId id="267" r:id="rId13"/>
    <p:sldId id="268" r:id="rId14"/>
    <p:sldId id="269" r:id="rId15"/>
    <p:sldId id="270" r:id="rId16"/>
    <p:sldId id="272" r:id="rId17"/>
    <p:sldId id="273" r:id="rId18"/>
    <p:sldId id="271"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630FF5F-09E4-49C7-8BA8-18EFB361248D}" type="datetimeFigureOut">
              <a:rPr lang="en-IN" smtClean="0"/>
              <a:t>22-07-2026</a:t>
            </a:fld>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EDF71F6F-2A27-48C0-AF2E-9D35B022E5DF}"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261126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30FF5F-09E4-49C7-8BA8-18EFB361248D}" type="datetimeFigureOut">
              <a:rPr lang="en-IN" smtClean="0"/>
              <a:t>22-07-2026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DF71F6F-2A27-48C0-AF2E-9D35B022E5DF}"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14563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30FF5F-09E4-49C7-8BA8-18EFB361248D}" type="datetimeFigureOut">
              <a:rPr lang="en-IN" smtClean="0"/>
              <a:t>22-07-2026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DF71F6F-2A27-48C0-AF2E-9D35B022E5DF}"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100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30FF5F-09E4-49C7-8BA8-18EFB361248D}" type="datetimeFigureOut">
              <a:rPr lang="en-IN" smtClean="0"/>
              <a:t>22-07-2026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DF71F6F-2A27-48C0-AF2E-9D35B022E5DF}"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924345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30FF5F-09E4-49C7-8BA8-18EFB361248D}" type="datetimeFigureOut">
              <a:rPr lang="en-IN" smtClean="0"/>
              <a:t>22-07-2026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DF71F6F-2A27-48C0-AF2E-9D35B022E5DF}"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275619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630FF5F-09E4-49C7-8BA8-18EFB361248D}" type="datetimeFigureOut">
              <a:rPr lang="en-IN" smtClean="0"/>
              <a:t>22-07-2026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DF71F6F-2A27-48C0-AF2E-9D35B022E5DF}"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312124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30FF5F-09E4-49C7-8BA8-18EFB361248D}" type="datetimeFigureOut">
              <a:rPr lang="en-IN" smtClean="0"/>
              <a:t>22-07-2026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DF71F6F-2A27-48C0-AF2E-9D35B022E5DF}" type="slidenum">
              <a:rPr lang="en-IN" smtClean="0"/>
              <a:t>‹#›</a:t>
            </a:fld>
            <a:endParaRPr lang="en-IN"/>
          </a:p>
        </p:txBody>
      </p:sp>
    </p:spTree>
    <p:extLst>
      <p:ext uri="{BB962C8B-B14F-4D97-AF65-F5344CB8AC3E}">
        <p14:creationId xmlns:p14="http://schemas.microsoft.com/office/powerpoint/2010/main" val="7176275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630FF5F-09E4-49C7-8BA8-18EFB361248D}" type="datetimeFigureOut">
              <a:rPr lang="en-IN" smtClean="0"/>
              <a:t>22-07-2026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DF71F6F-2A27-48C0-AF2E-9D35B022E5DF}"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105820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9630FF5F-09E4-49C7-8BA8-18EFB361248D}" type="datetimeFigureOut">
              <a:rPr lang="en-IN" smtClean="0"/>
              <a:t>22-07-2026</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EDF71F6F-2A27-48C0-AF2E-9D35B022E5DF}"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662829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30FF5F-09E4-49C7-8BA8-18EFB361248D}" type="datetimeFigureOut">
              <a:rPr lang="en-IN" smtClean="0"/>
              <a:t>22-07-2026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DF71F6F-2A27-48C0-AF2E-9D35B022E5DF}"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405891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30FF5F-09E4-49C7-8BA8-18EFB361248D}" type="datetimeFigureOut">
              <a:rPr lang="en-IN" smtClean="0"/>
              <a:t>22-07-2026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DF71F6F-2A27-48C0-AF2E-9D35B022E5DF}"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479398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9630FF5F-09E4-49C7-8BA8-18EFB361248D}" type="datetimeFigureOut">
              <a:rPr lang="en-IN" smtClean="0"/>
              <a:t>22-07-2026</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EDF71F6F-2A27-48C0-AF2E-9D35B022E5DF}"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73767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CC34D-8400-3372-7551-48C4C1FA29F4}"/>
              </a:ext>
            </a:extLst>
          </p:cNvPr>
          <p:cNvSpPr>
            <a:spLocks noGrp="1"/>
          </p:cNvSpPr>
          <p:nvPr>
            <p:ph type="ctrTitle"/>
          </p:nvPr>
        </p:nvSpPr>
        <p:spPr>
          <a:xfrm>
            <a:off x="1091381" y="363794"/>
            <a:ext cx="9963472" cy="1425677"/>
          </a:xfrm>
        </p:spPr>
        <p:txBody>
          <a:bodyPr>
            <a:normAutofit/>
          </a:bodyPr>
          <a:lstStyle/>
          <a:p>
            <a:r>
              <a:rPr lang="en-IN" sz="5000" dirty="0">
                <a:latin typeface="Times New Roman" panose="02020603050405020304" pitchFamily="18" charset="0"/>
                <a:cs typeface="Times New Roman" panose="02020603050405020304" pitchFamily="18" charset="0"/>
              </a:rPr>
              <a:t>Csa0509- database management SYSTEMS</a:t>
            </a:r>
          </a:p>
        </p:txBody>
      </p:sp>
      <p:sp>
        <p:nvSpPr>
          <p:cNvPr id="3" name="Subtitle 2">
            <a:extLst>
              <a:ext uri="{FF2B5EF4-FFF2-40B4-BE49-F238E27FC236}">
                <a16:creationId xmlns:a16="http://schemas.microsoft.com/office/drawing/2014/main" id="{C9C8BA44-BAE9-FE50-123E-AE57B670FCEA}"/>
              </a:ext>
            </a:extLst>
          </p:cNvPr>
          <p:cNvSpPr>
            <a:spLocks noGrp="1"/>
          </p:cNvSpPr>
          <p:nvPr>
            <p:ph type="subTitle" idx="1"/>
          </p:nvPr>
        </p:nvSpPr>
        <p:spPr>
          <a:xfrm>
            <a:off x="8485239" y="3531204"/>
            <a:ext cx="2569613" cy="977621"/>
          </a:xfrm>
        </p:spPr>
        <p:txBody>
          <a:bodyPr>
            <a:normAutofit fontScale="92500"/>
          </a:bodyPr>
          <a:lstStyle/>
          <a:p>
            <a:r>
              <a:rPr lang="en-IN" dirty="0"/>
              <a:t>PRESENTED BY M.SHARMILA(192572139)</a:t>
            </a:r>
          </a:p>
          <a:p>
            <a:endParaRPr lang="en-IN" dirty="0"/>
          </a:p>
        </p:txBody>
      </p:sp>
      <p:sp>
        <p:nvSpPr>
          <p:cNvPr id="4" name="TextBox 3">
            <a:extLst>
              <a:ext uri="{FF2B5EF4-FFF2-40B4-BE49-F238E27FC236}">
                <a16:creationId xmlns:a16="http://schemas.microsoft.com/office/drawing/2014/main" id="{518D81AC-02B4-C4DD-CC96-73A851E68921}"/>
              </a:ext>
            </a:extLst>
          </p:cNvPr>
          <p:cNvSpPr txBox="1"/>
          <p:nvPr/>
        </p:nvSpPr>
        <p:spPr>
          <a:xfrm>
            <a:off x="1091381" y="3647768"/>
            <a:ext cx="2458064" cy="646331"/>
          </a:xfrm>
          <a:prstGeom prst="rect">
            <a:avLst/>
          </a:prstGeom>
          <a:noFill/>
        </p:spPr>
        <p:txBody>
          <a:bodyPr wrap="square" rtlCol="0">
            <a:spAutoFit/>
          </a:bodyPr>
          <a:lstStyle/>
          <a:p>
            <a:r>
              <a:rPr lang="en-IN" dirty="0"/>
              <a:t>GUIDED BY:</a:t>
            </a:r>
          </a:p>
          <a:p>
            <a:r>
              <a:rPr lang="en-IN" dirty="0"/>
              <a:t>        </a:t>
            </a:r>
            <a:r>
              <a:rPr lang="en-IN" dirty="0" err="1"/>
              <a:t>Dr.R.Kesavan</a:t>
            </a:r>
            <a:endParaRPr lang="en-IN" dirty="0"/>
          </a:p>
        </p:txBody>
      </p:sp>
    </p:spTree>
    <p:extLst>
      <p:ext uri="{BB962C8B-B14F-4D97-AF65-F5344CB8AC3E}">
        <p14:creationId xmlns:p14="http://schemas.microsoft.com/office/powerpoint/2010/main" val="3879685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1F6ED-7839-E03C-DE50-3A462BA88313}"/>
              </a:ext>
            </a:extLst>
          </p:cNvPr>
          <p:cNvSpPr>
            <a:spLocks noGrp="1"/>
          </p:cNvSpPr>
          <p:nvPr>
            <p:ph type="title"/>
          </p:nvPr>
        </p:nvSpPr>
        <p:spPr/>
        <p:txBody>
          <a:bodyPr>
            <a:normAutofit fontScale="90000"/>
          </a:bodyPr>
          <a:lstStyle/>
          <a:p>
            <a:r>
              <a:rPr lang="en-IN" dirty="0"/>
              <a:t>            </a:t>
            </a:r>
            <a:r>
              <a:rPr lang="en-IN" sz="3500" b="1" dirty="0">
                <a:latin typeface="Times New Roman" panose="02020603050405020304" pitchFamily="18" charset="0"/>
                <a:cs typeface="Times New Roman" panose="02020603050405020304" pitchFamily="18" charset="0"/>
              </a:rPr>
              <a:t>An ER Diagram for an </a:t>
            </a:r>
            <a:br>
              <a:rPr lang="en-IN" sz="3500" b="1" dirty="0">
                <a:latin typeface="Times New Roman" panose="02020603050405020304" pitchFamily="18" charset="0"/>
                <a:cs typeface="Times New Roman" panose="02020603050405020304" pitchFamily="18" charset="0"/>
              </a:rPr>
            </a:br>
            <a:r>
              <a:rPr lang="en-IN" sz="3500" b="1" dirty="0">
                <a:latin typeface="Times New Roman" panose="02020603050405020304" pitchFamily="18" charset="0"/>
                <a:cs typeface="Times New Roman" panose="02020603050405020304" pitchFamily="18" charset="0"/>
              </a:rPr>
              <a:t>            Online Library System </a:t>
            </a:r>
          </a:p>
        </p:txBody>
      </p:sp>
      <p:sp>
        <p:nvSpPr>
          <p:cNvPr id="3" name="Content Placeholder 2">
            <a:extLst>
              <a:ext uri="{FF2B5EF4-FFF2-40B4-BE49-F238E27FC236}">
                <a16:creationId xmlns:a16="http://schemas.microsoft.com/office/drawing/2014/main" id="{680BD5E5-EE0D-075A-3DEA-3A594D075AE4}"/>
              </a:ext>
            </a:extLst>
          </p:cNvPr>
          <p:cNvSpPr>
            <a:spLocks noGrp="1"/>
          </p:cNvSpPr>
          <p:nvPr>
            <p:ph idx="1"/>
          </p:nvPr>
        </p:nvSpPr>
        <p:spPr/>
        <p:txBody>
          <a:bodyPr/>
          <a:lstStyle/>
          <a:p>
            <a:r>
              <a:rPr lang="en-IN" dirty="0"/>
              <a:t>An Entity Relationship (ER) Diagram is a graphical representation used to design the logical structure of a database.</a:t>
            </a:r>
          </a:p>
          <a:p>
            <a:r>
              <a:rPr lang="en-IN" dirty="0"/>
              <a:t>It identifies entities, attributes, relationships, and constraints before implementation.</a:t>
            </a:r>
          </a:p>
          <a:p>
            <a:r>
              <a:rPr lang="en-IN" dirty="0"/>
              <a:t>In an Online Library Management System, an ER diagram helps organize information</a:t>
            </a:r>
          </a:p>
          <a:p>
            <a:r>
              <a:rPr lang="en-IN" dirty="0"/>
              <a:t>It serves as a blueprint for database developers.</a:t>
            </a:r>
          </a:p>
        </p:txBody>
      </p:sp>
      <p:pic>
        <p:nvPicPr>
          <p:cNvPr id="4" name="Picture 3">
            <a:extLst>
              <a:ext uri="{FF2B5EF4-FFF2-40B4-BE49-F238E27FC236}">
                <a16:creationId xmlns:a16="http://schemas.microsoft.com/office/drawing/2014/main" id="{1070A5C3-BFCC-359A-2341-76609E83E49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329" y="168736"/>
            <a:ext cx="1246239" cy="1206851"/>
          </a:xfrm>
          <a:prstGeom prst="rect">
            <a:avLst/>
          </a:prstGeom>
          <a:noFill/>
          <a:ln>
            <a:noFill/>
          </a:ln>
        </p:spPr>
      </p:pic>
      <p:pic>
        <p:nvPicPr>
          <p:cNvPr id="5" name="Picture 4">
            <a:extLst>
              <a:ext uri="{FF2B5EF4-FFF2-40B4-BE49-F238E27FC236}">
                <a16:creationId xmlns:a16="http://schemas.microsoft.com/office/drawing/2014/main" id="{A0DD64BF-1DE0-AC99-8834-EDF8ADF335C7}"/>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950436" y="99663"/>
            <a:ext cx="1086948" cy="1275924"/>
          </a:xfrm>
          <a:prstGeom prst="rect">
            <a:avLst/>
          </a:prstGeom>
          <a:noFill/>
        </p:spPr>
      </p:pic>
    </p:spTree>
    <p:extLst>
      <p:ext uri="{BB962C8B-B14F-4D97-AF65-F5344CB8AC3E}">
        <p14:creationId xmlns:p14="http://schemas.microsoft.com/office/powerpoint/2010/main" val="12983355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DCC38-4719-8489-3A13-E4EC6114A4E2}"/>
              </a:ext>
            </a:extLst>
          </p:cNvPr>
          <p:cNvSpPr>
            <a:spLocks noGrp="1"/>
          </p:cNvSpPr>
          <p:nvPr>
            <p:ph type="title"/>
          </p:nvPr>
        </p:nvSpPr>
        <p:spPr/>
        <p:txBody>
          <a:bodyPr/>
          <a:lstStyle/>
          <a:p>
            <a:r>
              <a:rPr lang="en-IN" dirty="0"/>
              <a:t>                                 OBJECTIVES</a:t>
            </a:r>
          </a:p>
        </p:txBody>
      </p:sp>
      <p:sp>
        <p:nvSpPr>
          <p:cNvPr id="3" name="Content Placeholder 2">
            <a:extLst>
              <a:ext uri="{FF2B5EF4-FFF2-40B4-BE49-F238E27FC236}">
                <a16:creationId xmlns:a16="http://schemas.microsoft.com/office/drawing/2014/main" id="{F8F88FC2-1D2D-9D0A-2815-D71A2BA00D8C}"/>
              </a:ext>
            </a:extLst>
          </p:cNvPr>
          <p:cNvSpPr>
            <a:spLocks noGrp="1"/>
          </p:cNvSpPr>
          <p:nvPr>
            <p:ph idx="1"/>
          </p:nvPr>
        </p:nvSpPr>
        <p:spPr>
          <a:xfrm>
            <a:off x="838200" y="1933780"/>
            <a:ext cx="10515600" cy="4351338"/>
          </a:xfrm>
        </p:spPr>
        <p:txBody>
          <a:bodyPr/>
          <a:lstStyle/>
          <a:p>
            <a:endParaRPr lang="en-IN" dirty="0"/>
          </a:p>
          <a:p>
            <a:r>
              <a:rPr lang="en-IN" dirty="0"/>
              <a:t>Store library information efficiently. </a:t>
            </a:r>
          </a:p>
          <a:p>
            <a:r>
              <a:rPr lang="en-IN" dirty="0"/>
              <a:t>Track issued and returned books.</a:t>
            </a:r>
          </a:p>
          <a:p>
            <a:r>
              <a:rPr lang="en-IN" dirty="0"/>
              <a:t> Manage members and authors. </a:t>
            </a:r>
          </a:p>
          <a:p>
            <a:r>
              <a:rPr lang="en-IN" dirty="0"/>
              <a:t>Maintain accurate borrowing records.</a:t>
            </a:r>
          </a:p>
        </p:txBody>
      </p:sp>
      <p:pic>
        <p:nvPicPr>
          <p:cNvPr id="5" name="Picture 4">
            <a:extLst>
              <a:ext uri="{FF2B5EF4-FFF2-40B4-BE49-F238E27FC236}">
                <a16:creationId xmlns:a16="http://schemas.microsoft.com/office/drawing/2014/main" id="{B5E8BB14-5167-C041-9916-FC03B224B224}"/>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329" y="168736"/>
            <a:ext cx="1246239" cy="1206851"/>
          </a:xfrm>
          <a:prstGeom prst="rect">
            <a:avLst/>
          </a:prstGeom>
          <a:noFill/>
          <a:ln>
            <a:noFill/>
          </a:ln>
        </p:spPr>
      </p:pic>
      <p:pic>
        <p:nvPicPr>
          <p:cNvPr id="7" name="Picture 6">
            <a:extLst>
              <a:ext uri="{FF2B5EF4-FFF2-40B4-BE49-F238E27FC236}">
                <a16:creationId xmlns:a16="http://schemas.microsoft.com/office/drawing/2014/main" id="{E4C32C67-AB38-4B09-EAEC-FDC42ACFD439}"/>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950436" y="99663"/>
            <a:ext cx="1086948" cy="1275924"/>
          </a:xfrm>
          <a:prstGeom prst="rect">
            <a:avLst/>
          </a:prstGeom>
          <a:noFill/>
        </p:spPr>
      </p:pic>
    </p:spTree>
    <p:extLst>
      <p:ext uri="{BB962C8B-B14F-4D97-AF65-F5344CB8AC3E}">
        <p14:creationId xmlns:p14="http://schemas.microsoft.com/office/powerpoint/2010/main" val="1319684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C8B56-09CE-8538-03BF-6C65FC13C43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8C380DA-782A-AD1E-15CC-B34E96D8C29B}"/>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9135988A-B0BB-04EC-5A36-8AF7338D7947}"/>
              </a:ext>
            </a:extLst>
          </p:cNvPr>
          <p:cNvPicPr>
            <a:picLocks noChangeAspect="1"/>
          </p:cNvPicPr>
          <p:nvPr/>
        </p:nvPicPr>
        <p:blipFill>
          <a:blip r:embed="rId2"/>
          <a:stretch>
            <a:fillRect/>
          </a:stretch>
        </p:blipFill>
        <p:spPr>
          <a:xfrm>
            <a:off x="1451579" y="56577"/>
            <a:ext cx="9786692" cy="5342364"/>
          </a:xfrm>
          <a:prstGeom prst="rect">
            <a:avLst/>
          </a:prstGeom>
        </p:spPr>
      </p:pic>
    </p:spTree>
    <p:extLst>
      <p:ext uri="{BB962C8B-B14F-4D97-AF65-F5344CB8AC3E}">
        <p14:creationId xmlns:p14="http://schemas.microsoft.com/office/powerpoint/2010/main" val="13971440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59A66-A118-6769-B155-F5B0B4E99752}"/>
              </a:ext>
            </a:extLst>
          </p:cNvPr>
          <p:cNvSpPr>
            <a:spLocks noGrp="1"/>
          </p:cNvSpPr>
          <p:nvPr>
            <p:ph type="title"/>
          </p:nvPr>
        </p:nvSpPr>
        <p:spPr/>
        <p:txBody>
          <a:bodyPr>
            <a:normAutofit fontScale="90000"/>
          </a:bodyPr>
          <a:lstStyle/>
          <a:p>
            <a:r>
              <a:rPr lang="en-IN" sz="4000" b="1" dirty="0"/>
              <a:t>                            </a:t>
            </a:r>
            <a:br>
              <a:rPr lang="en-IN" sz="4000" b="1" dirty="0"/>
            </a:br>
            <a:r>
              <a:rPr lang="en-IN" sz="4000" b="1" dirty="0"/>
              <a:t>                                       ADVANTAGES</a:t>
            </a:r>
            <a:br>
              <a:rPr lang="en-IN" b="1" dirty="0"/>
            </a:br>
            <a:endParaRPr lang="en-IN" dirty="0"/>
          </a:p>
        </p:txBody>
      </p:sp>
      <p:sp>
        <p:nvSpPr>
          <p:cNvPr id="3" name="Content Placeholder 2">
            <a:extLst>
              <a:ext uri="{FF2B5EF4-FFF2-40B4-BE49-F238E27FC236}">
                <a16:creationId xmlns:a16="http://schemas.microsoft.com/office/drawing/2014/main" id="{31ED3C0F-BACF-78E5-93BB-1A9D37EDDE03}"/>
              </a:ext>
            </a:extLst>
          </p:cNvPr>
          <p:cNvSpPr>
            <a:spLocks noGrp="1"/>
          </p:cNvSpPr>
          <p:nvPr>
            <p:ph idx="1"/>
          </p:nvPr>
        </p:nvSpPr>
        <p:spPr/>
        <p:txBody>
          <a:bodyPr/>
          <a:lstStyle/>
          <a:p>
            <a:r>
              <a:rPr lang="en-IN" dirty="0"/>
              <a:t>Eliminates data redundancy</a:t>
            </a:r>
          </a:p>
          <a:p>
            <a:r>
              <a:rPr lang="en-IN" dirty="0"/>
              <a:t> Maintains data integrity</a:t>
            </a:r>
          </a:p>
          <a:p>
            <a:r>
              <a:rPr lang="en-IN" dirty="0"/>
              <a:t> Easy to understand</a:t>
            </a:r>
          </a:p>
          <a:p>
            <a:r>
              <a:rPr lang="en-IN" dirty="0"/>
              <a:t> Supports efficient database design</a:t>
            </a:r>
          </a:p>
          <a:p>
            <a:r>
              <a:rPr lang="en-IN" dirty="0"/>
              <a:t> Improves query performance</a:t>
            </a:r>
          </a:p>
          <a:p>
            <a:r>
              <a:rPr lang="en-IN" dirty="0"/>
              <a:t>Helps normalize the database</a:t>
            </a:r>
          </a:p>
          <a:p>
            <a:endParaRPr lang="en-IN" dirty="0"/>
          </a:p>
        </p:txBody>
      </p:sp>
      <p:pic>
        <p:nvPicPr>
          <p:cNvPr id="5" name="Picture 4">
            <a:extLst>
              <a:ext uri="{FF2B5EF4-FFF2-40B4-BE49-F238E27FC236}">
                <a16:creationId xmlns:a16="http://schemas.microsoft.com/office/drawing/2014/main" id="{D273F366-0F9D-A4D7-09A2-9E6661443D6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329" y="168736"/>
            <a:ext cx="1246239" cy="1206851"/>
          </a:xfrm>
          <a:prstGeom prst="rect">
            <a:avLst/>
          </a:prstGeom>
          <a:noFill/>
          <a:ln>
            <a:noFill/>
          </a:ln>
        </p:spPr>
      </p:pic>
      <p:pic>
        <p:nvPicPr>
          <p:cNvPr id="7" name="Picture 6">
            <a:extLst>
              <a:ext uri="{FF2B5EF4-FFF2-40B4-BE49-F238E27FC236}">
                <a16:creationId xmlns:a16="http://schemas.microsoft.com/office/drawing/2014/main" id="{7C9ADA20-C39F-DB48-0837-C1162FFDADB8}"/>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065723" y="43075"/>
            <a:ext cx="1086948" cy="1275924"/>
          </a:xfrm>
          <a:prstGeom prst="rect">
            <a:avLst/>
          </a:prstGeom>
          <a:noFill/>
        </p:spPr>
      </p:pic>
    </p:spTree>
    <p:extLst>
      <p:ext uri="{BB962C8B-B14F-4D97-AF65-F5344CB8AC3E}">
        <p14:creationId xmlns:p14="http://schemas.microsoft.com/office/powerpoint/2010/main" val="34772125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A8B23-E12F-3682-B6E5-94F00ACE6213}"/>
              </a:ext>
            </a:extLst>
          </p:cNvPr>
          <p:cNvSpPr>
            <a:spLocks noGrp="1"/>
          </p:cNvSpPr>
          <p:nvPr>
            <p:ph type="title"/>
          </p:nvPr>
        </p:nvSpPr>
        <p:spPr/>
        <p:txBody>
          <a:bodyPr/>
          <a:lstStyle/>
          <a:p>
            <a:r>
              <a:rPr lang="en-IN" dirty="0"/>
              <a:t>2.Demonstrating Generalization and Specialization with a University Case Study.</a:t>
            </a:r>
          </a:p>
        </p:txBody>
      </p:sp>
      <p:sp>
        <p:nvSpPr>
          <p:cNvPr id="3" name="Content Placeholder 2">
            <a:extLst>
              <a:ext uri="{FF2B5EF4-FFF2-40B4-BE49-F238E27FC236}">
                <a16:creationId xmlns:a16="http://schemas.microsoft.com/office/drawing/2014/main" id="{AF5639DE-2DB6-0A69-C9DF-43BC9E4C47A1}"/>
              </a:ext>
            </a:extLst>
          </p:cNvPr>
          <p:cNvSpPr>
            <a:spLocks noGrp="1"/>
          </p:cNvSpPr>
          <p:nvPr>
            <p:ph idx="1"/>
          </p:nvPr>
        </p:nvSpPr>
        <p:spPr>
          <a:xfrm>
            <a:off x="1451579" y="2389239"/>
            <a:ext cx="9603275" cy="3077106"/>
          </a:xfrm>
        </p:spPr>
        <p:txBody>
          <a:bodyPr/>
          <a:lstStyle/>
          <a:p>
            <a:pPr>
              <a:lnSpc>
                <a:spcPct val="150000"/>
              </a:lnSpc>
            </a:pPr>
            <a:r>
              <a:rPr lang="en-IN" dirty="0">
                <a:latin typeface="Times New Roman" panose="02020603050405020304" pitchFamily="18" charset="0"/>
                <a:cs typeface="Times New Roman" panose="02020603050405020304" pitchFamily="18" charset="0"/>
              </a:rPr>
              <a:t>The </a:t>
            </a:r>
            <a:r>
              <a:rPr lang="en-IN" b="1" dirty="0">
                <a:latin typeface="Times New Roman" panose="02020603050405020304" pitchFamily="18" charset="0"/>
                <a:cs typeface="Times New Roman" panose="02020603050405020304" pitchFamily="18" charset="0"/>
              </a:rPr>
              <a:t>Extended Entity-Relationship (EER) Model</a:t>
            </a:r>
            <a:r>
              <a:rPr lang="en-IN" dirty="0">
                <a:latin typeface="Times New Roman" panose="02020603050405020304" pitchFamily="18" charset="0"/>
                <a:cs typeface="Times New Roman" panose="02020603050405020304" pitchFamily="18" charset="0"/>
              </a:rPr>
              <a:t> is an enhanced version of the ER model that provides advanced concepts such as inheritance, specialization, generalization, and aggregation. It is used to represent complex real-world database structures more effectively.</a:t>
            </a:r>
          </a:p>
        </p:txBody>
      </p:sp>
      <p:pic>
        <p:nvPicPr>
          <p:cNvPr id="7" name="Picture 6">
            <a:extLst>
              <a:ext uri="{FF2B5EF4-FFF2-40B4-BE49-F238E27FC236}">
                <a16:creationId xmlns:a16="http://schemas.microsoft.com/office/drawing/2014/main" id="{9A0C1F1A-B8B2-8923-1FEE-6607E95A0589}"/>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329" y="168736"/>
            <a:ext cx="1246239" cy="1206851"/>
          </a:xfrm>
          <a:prstGeom prst="rect">
            <a:avLst/>
          </a:prstGeom>
          <a:noFill/>
          <a:ln>
            <a:noFill/>
          </a:ln>
        </p:spPr>
      </p:pic>
      <p:pic>
        <p:nvPicPr>
          <p:cNvPr id="9" name="Picture 8">
            <a:extLst>
              <a:ext uri="{FF2B5EF4-FFF2-40B4-BE49-F238E27FC236}">
                <a16:creationId xmlns:a16="http://schemas.microsoft.com/office/drawing/2014/main" id="{3959DDF1-5BDA-610B-05C2-231F1E1D19D5}"/>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950436" y="99663"/>
            <a:ext cx="1086948" cy="1275924"/>
          </a:xfrm>
          <a:prstGeom prst="rect">
            <a:avLst/>
          </a:prstGeom>
          <a:noFill/>
        </p:spPr>
      </p:pic>
    </p:spTree>
    <p:extLst>
      <p:ext uri="{BB962C8B-B14F-4D97-AF65-F5344CB8AC3E}">
        <p14:creationId xmlns:p14="http://schemas.microsoft.com/office/powerpoint/2010/main" val="16224967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CDA32-BB66-C56F-C762-7186D7B21708}"/>
              </a:ext>
            </a:extLst>
          </p:cNvPr>
          <p:cNvSpPr>
            <a:spLocks noGrp="1"/>
          </p:cNvSpPr>
          <p:nvPr>
            <p:ph type="title"/>
          </p:nvPr>
        </p:nvSpPr>
        <p:spPr/>
        <p:txBody>
          <a:bodyPr/>
          <a:lstStyle/>
          <a:p>
            <a:r>
              <a:rPr lang="en-IN" b="1" dirty="0"/>
              <a:t>                                 </a:t>
            </a:r>
            <a:r>
              <a:rPr lang="en-IN" b="1" dirty="0">
                <a:latin typeface="Times New Roman" panose="02020603050405020304" pitchFamily="18" charset="0"/>
                <a:cs typeface="Times New Roman" panose="02020603050405020304" pitchFamily="18" charset="0"/>
              </a:rPr>
              <a:t>FEATURES</a:t>
            </a:r>
          </a:p>
        </p:txBody>
      </p:sp>
      <p:sp>
        <p:nvSpPr>
          <p:cNvPr id="3" name="Content Placeholder 2">
            <a:extLst>
              <a:ext uri="{FF2B5EF4-FFF2-40B4-BE49-F238E27FC236}">
                <a16:creationId xmlns:a16="http://schemas.microsoft.com/office/drawing/2014/main" id="{DBA603CC-B8B2-5467-218A-E88ECA3D3614}"/>
              </a:ext>
            </a:extLst>
          </p:cNvPr>
          <p:cNvSpPr>
            <a:spLocks noGrp="1"/>
          </p:cNvSpPr>
          <p:nvPr>
            <p:ph idx="1"/>
          </p:nvPr>
        </p:nvSpPr>
        <p:spPr/>
        <p:txBody>
          <a:bodyPr>
            <a:normAutofit/>
          </a:bodyPr>
          <a:lstStyle/>
          <a:p>
            <a:endParaRPr lang="en-IN" b="1"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Extension of the ER model </a:t>
            </a:r>
          </a:p>
          <a:p>
            <a:r>
              <a:rPr lang="en-IN" dirty="0">
                <a:latin typeface="Times New Roman" panose="02020603050405020304" pitchFamily="18" charset="0"/>
                <a:cs typeface="Times New Roman" panose="02020603050405020304" pitchFamily="18" charset="0"/>
              </a:rPr>
              <a:t>Supports inheritance </a:t>
            </a:r>
          </a:p>
          <a:p>
            <a:r>
              <a:rPr lang="en-IN" dirty="0">
                <a:latin typeface="Times New Roman" panose="02020603050405020304" pitchFamily="18" charset="0"/>
                <a:cs typeface="Times New Roman" panose="02020603050405020304" pitchFamily="18" charset="0"/>
              </a:rPr>
              <a:t>Reduces redundancy </a:t>
            </a:r>
          </a:p>
          <a:p>
            <a:r>
              <a:rPr lang="en-IN" dirty="0">
                <a:latin typeface="Times New Roman" panose="02020603050405020304" pitchFamily="18" charset="0"/>
                <a:cs typeface="Times New Roman" panose="02020603050405020304" pitchFamily="18" charset="0"/>
              </a:rPr>
              <a:t>Models complex relationships </a:t>
            </a:r>
          </a:p>
          <a:p>
            <a:r>
              <a:rPr lang="en-IN" dirty="0">
                <a:latin typeface="Times New Roman" panose="02020603050405020304" pitchFamily="18" charset="0"/>
                <a:cs typeface="Times New Roman" panose="02020603050405020304" pitchFamily="18" charset="0"/>
              </a:rPr>
              <a:t>Improves database design </a:t>
            </a:r>
          </a:p>
          <a:p>
            <a:endParaRPr lang="en-IN" dirty="0"/>
          </a:p>
        </p:txBody>
      </p:sp>
      <p:pic>
        <p:nvPicPr>
          <p:cNvPr id="7" name="Picture 6">
            <a:extLst>
              <a:ext uri="{FF2B5EF4-FFF2-40B4-BE49-F238E27FC236}">
                <a16:creationId xmlns:a16="http://schemas.microsoft.com/office/drawing/2014/main" id="{D116508E-6B45-B522-96F5-EE10F0AFAA1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329" y="168736"/>
            <a:ext cx="1246239" cy="1206851"/>
          </a:xfrm>
          <a:prstGeom prst="rect">
            <a:avLst/>
          </a:prstGeom>
          <a:noFill/>
          <a:ln>
            <a:noFill/>
          </a:ln>
        </p:spPr>
      </p:pic>
      <p:pic>
        <p:nvPicPr>
          <p:cNvPr id="9" name="Picture 8">
            <a:extLst>
              <a:ext uri="{FF2B5EF4-FFF2-40B4-BE49-F238E27FC236}">
                <a16:creationId xmlns:a16="http://schemas.microsoft.com/office/drawing/2014/main" id="{D17032D3-0B9B-0ED1-BD34-BCCBF07EC0A7}"/>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950436" y="99663"/>
            <a:ext cx="1086948" cy="1275924"/>
          </a:xfrm>
          <a:prstGeom prst="rect">
            <a:avLst/>
          </a:prstGeom>
          <a:noFill/>
        </p:spPr>
      </p:pic>
    </p:spTree>
    <p:extLst>
      <p:ext uri="{BB962C8B-B14F-4D97-AF65-F5344CB8AC3E}">
        <p14:creationId xmlns:p14="http://schemas.microsoft.com/office/powerpoint/2010/main" val="3589348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6DBD8-DDCC-5D40-2EC6-DECC1C9CAF2B}"/>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                              APPLICATIONS</a:t>
            </a:r>
          </a:p>
        </p:txBody>
      </p:sp>
      <p:sp>
        <p:nvSpPr>
          <p:cNvPr id="3" name="Content Placeholder 2">
            <a:extLst>
              <a:ext uri="{FF2B5EF4-FFF2-40B4-BE49-F238E27FC236}">
                <a16:creationId xmlns:a16="http://schemas.microsoft.com/office/drawing/2014/main" id="{F6DBEDBA-FF1D-16DC-2691-DCD266746216}"/>
              </a:ext>
            </a:extLst>
          </p:cNvPr>
          <p:cNvSpPr>
            <a:spLocks noGrp="1"/>
          </p:cNvSpPr>
          <p:nvPr>
            <p:ph idx="1"/>
          </p:nvPr>
        </p:nvSpPr>
        <p:spPr/>
        <p:txBody>
          <a:bodyPr/>
          <a:lstStyle/>
          <a:p>
            <a:pPr>
              <a:buNone/>
            </a:pPr>
            <a:endParaRPr lang="en-IN" b="1" dirty="0"/>
          </a:p>
          <a:p>
            <a:r>
              <a:rPr lang="en-IN" dirty="0"/>
              <a:t>University Management Systems </a:t>
            </a:r>
          </a:p>
          <a:p>
            <a:r>
              <a:rPr lang="en-IN" dirty="0"/>
              <a:t>Hospital Management Systems </a:t>
            </a:r>
          </a:p>
          <a:p>
            <a:r>
              <a:rPr lang="en-IN" dirty="0"/>
              <a:t>Banking Systems </a:t>
            </a:r>
          </a:p>
          <a:p>
            <a:r>
              <a:rPr lang="en-IN" dirty="0"/>
              <a:t>E-Commerce Application</a:t>
            </a:r>
          </a:p>
          <a:p>
            <a:endParaRPr lang="en-IN" dirty="0"/>
          </a:p>
        </p:txBody>
      </p:sp>
      <p:pic>
        <p:nvPicPr>
          <p:cNvPr id="7" name="Picture 6">
            <a:extLst>
              <a:ext uri="{FF2B5EF4-FFF2-40B4-BE49-F238E27FC236}">
                <a16:creationId xmlns:a16="http://schemas.microsoft.com/office/drawing/2014/main" id="{01C4794F-2571-D600-29AA-306E779B7377}"/>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329" y="168736"/>
            <a:ext cx="1246239" cy="1206851"/>
          </a:xfrm>
          <a:prstGeom prst="rect">
            <a:avLst/>
          </a:prstGeom>
          <a:noFill/>
          <a:ln>
            <a:noFill/>
          </a:ln>
        </p:spPr>
      </p:pic>
      <p:pic>
        <p:nvPicPr>
          <p:cNvPr id="9" name="Picture 8">
            <a:extLst>
              <a:ext uri="{FF2B5EF4-FFF2-40B4-BE49-F238E27FC236}">
                <a16:creationId xmlns:a16="http://schemas.microsoft.com/office/drawing/2014/main" id="{61AEF653-18F0-2395-D443-4E5303D093F9}"/>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065723" y="43075"/>
            <a:ext cx="1086948" cy="1275924"/>
          </a:xfrm>
          <a:prstGeom prst="rect">
            <a:avLst/>
          </a:prstGeom>
          <a:noFill/>
        </p:spPr>
      </p:pic>
    </p:spTree>
    <p:extLst>
      <p:ext uri="{BB962C8B-B14F-4D97-AF65-F5344CB8AC3E}">
        <p14:creationId xmlns:p14="http://schemas.microsoft.com/office/powerpoint/2010/main" val="36483430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D606E-3BEA-20C8-80A2-401744046C4E}"/>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296CCA56-33A2-4111-8CA2-8298F6646B34}"/>
              </a:ext>
            </a:extLst>
          </p:cNvPr>
          <p:cNvPicPr>
            <a:picLocks noGrp="1" noChangeAspect="1"/>
          </p:cNvPicPr>
          <p:nvPr>
            <p:ph idx="1"/>
          </p:nvPr>
        </p:nvPicPr>
        <p:blipFill>
          <a:blip r:embed="rId2"/>
          <a:stretch>
            <a:fillRect/>
          </a:stretch>
        </p:blipFill>
        <p:spPr>
          <a:xfrm>
            <a:off x="1137147" y="511277"/>
            <a:ext cx="10228944" cy="5063613"/>
          </a:xfrm>
          <a:prstGeom prst="rect">
            <a:avLst/>
          </a:prstGeom>
        </p:spPr>
      </p:pic>
    </p:spTree>
    <p:extLst>
      <p:ext uri="{BB962C8B-B14F-4D97-AF65-F5344CB8AC3E}">
        <p14:creationId xmlns:p14="http://schemas.microsoft.com/office/powerpoint/2010/main" val="32475469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44857-A34E-E7B3-A559-448AAA86E253}"/>
              </a:ext>
            </a:extLst>
          </p:cNvPr>
          <p:cNvSpPr>
            <a:spLocks noGrp="1"/>
          </p:cNvSpPr>
          <p:nvPr>
            <p:ph type="title"/>
          </p:nvPr>
        </p:nvSpPr>
        <p:spPr/>
        <p:txBody>
          <a:bodyPr>
            <a:normAutofit/>
          </a:bodyPr>
          <a:lstStyle/>
          <a:p>
            <a:r>
              <a:rPr lang="en-IN" sz="2200" b="1" dirty="0">
                <a:latin typeface="Times New Roman" panose="02020603050405020304" pitchFamily="18" charset="0"/>
                <a:cs typeface="Times New Roman" panose="02020603050405020304" pitchFamily="18" charset="0"/>
              </a:rPr>
              <a:t>3.concept of Data Independence (Logical and Physical) and its significance in DBMS Architecture</a:t>
            </a:r>
            <a:r>
              <a:rPr lang="en-IN" b="1" dirty="0"/>
              <a:t>.</a:t>
            </a:r>
          </a:p>
        </p:txBody>
      </p:sp>
      <p:sp>
        <p:nvSpPr>
          <p:cNvPr id="3" name="Content Placeholder 2">
            <a:extLst>
              <a:ext uri="{FF2B5EF4-FFF2-40B4-BE49-F238E27FC236}">
                <a16:creationId xmlns:a16="http://schemas.microsoft.com/office/drawing/2014/main" id="{CF31B398-13CE-7CC7-E0B8-1801F6960407}"/>
              </a:ext>
            </a:extLst>
          </p:cNvPr>
          <p:cNvSpPr>
            <a:spLocks noGrp="1"/>
          </p:cNvSpPr>
          <p:nvPr>
            <p:ph idx="1"/>
          </p:nvPr>
        </p:nvSpPr>
        <p:spPr/>
        <p:txBody>
          <a:bodyPr/>
          <a:lstStyle/>
          <a:p>
            <a:endParaRPr lang="en-IN" b="1" dirty="0"/>
          </a:p>
          <a:p>
            <a:endParaRPr lang="en-IN" b="1" dirty="0"/>
          </a:p>
          <a:p>
            <a:r>
              <a:rPr lang="en-IN" b="1" dirty="0"/>
              <a:t>Data Independence</a:t>
            </a:r>
            <a:r>
              <a:rPr lang="en-IN" dirty="0"/>
              <a:t> is the ability to modify the database schema at one level without affecting the schema at the next higher level. It allows changes in the database structure while minimizing the impact on applications and users.</a:t>
            </a:r>
          </a:p>
        </p:txBody>
      </p:sp>
      <p:pic>
        <p:nvPicPr>
          <p:cNvPr id="5" name="Picture 4">
            <a:extLst>
              <a:ext uri="{FF2B5EF4-FFF2-40B4-BE49-F238E27FC236}">
                <a16:creationId xmlns:a16="http://schemas.microsoft.com/office/drawing/2014/main" id="{A26F94DC-1319-CA60-956E-C46415BAA80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329" y="168736"/>
            <a:ext cx="1246239" cy="1206851"/>
          </a:xfrm>
          <a:prstGeom prst="rect">
            <a:avLst/>
          </a:prstGeom>
          <a:noFill/>
          <a:ln>
            <a:noFill/>
          </a:ln>
        </p:spPr>
      </p:pic>
      <p:pic>
        <p:nvPicPr>
          <p:cNvPr id="7" name="Picture 6">
            <a:extLst>
              <a:ext uri="{FF2B5EF4-FFF2-40B4-BE49-F238E27FC236}">
                <a16:creationId xmlns:a16="http://schemas.microsoft.com/office/drawing/2014/main" id="{EFC5BC28-1113-B2E4-E8C4-E537510BD5D7}"/>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065723" y="43075"/>
            <a:ext cx="1086948" cy="1275924"/>
          </a:xfrm>
          <a:prstGeom prst="rect">
            <a:avLst/>
          </a:prstGeom>
          <a:noFill/>
        </p:spPr>
      </p:pic>
    </p:spTree>
    <p:extLst>
      <p:ext uri="{BB962C8B-B14F-4D97-AF65-F5344CB8AC3E}">
        <p14:creationId xmlns:p14="http://schemas.microsoft.com/office/powerpoint/2010/main" val="37193387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F2E54-4F4A-2D6D-E078-8797298F8129}"/>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                             OBJECTIVES</a:t>
            </a:r>
          </a:p>
        </p:txBody>
      </p:sp>
      <p:sp>
        <p:nvSpPr>
          <p:cNvPr id="3" name="Content Placeholder 2">
            <a:extLst>
              <a:ext uri="{FF2B5EF4-FFF2-40B4-BE49-F238E27FC236}">
                <a16:creationId xmlns:a16="http://schemas.microsoft.com/office/drawing/2014/main" id="{DC699C62-213E-BEF8-EC71-1704CA9CC658}"/>
              </a:ext>
            </a:extLst>
          </p:cNvPr>
          <p:cNvSpPr>
            <a:spLocks noGrp="1"/>
          </p:cNvSpPr>
          <p:nvPr>
            <p:ph idx="1"/>
          </p:nvPr>
        </p:nvSpPr>
        <p:spPr/>
        <p:txBody>
          <a:bodyPr/>
          <a:lstStyle/>
          <a:p>
            <a:pPr marL="0" indent="0">
              <a:buNone/>
            </a:pPr>
            <a:endParaRPr lang="en-IN" b="1" dirty="0"/>
          </a:p>
          <a:p>
            <a:r>
              <a:rPr lang="en-IN" dirty="0"/>
              <a:t>Reduce application maintenance </a:t>
            </a:r>
          </a:p>
          <a:p>
            <a:r>
              <a:rPr lang="en-IN" dirty="0"/>
              <a:t>Improve flexibility </a:t>
            </a:r>
          </a:p>
          <a:p>
            <a:r>
              <a:rPr lang="en-IN" dirty="0"/>
              <a:t>Support database scalability </a:t>
            </a:r>
          </a:p>
          <a:p>
            <a:r>
              <a:rPr lang="en-IN" dirty="0"/>
              <a:t>Simplify database management</a:t>
            </a:r>
          </a:p>
          <a:p>
            <a:endParaRPr lang="en-IN" dirty="0"/>
          </a:p>
        </p:txBody>
      </p:sp>
      <p:pic>
        <p:nvPicPr>
          <p:cNvPr id="5" name="Picture 4">
            <a:extLst>
              <a:ext uri="{FF2B5EF4-FFF2-40B4-BE49-F238E27FC236}">
                <a16:creationId xmlns:a16="http://schemas.microsoft.com/office/drawing/2014/main" id="{6536DA08-BC1A-DD80-C2BD-01999A84E691}"/>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329" y="168736"/>
            <a:ext cx="1246239" cy="1206851"/>
          </a:xfrm>
          <a:prstGeom prst="rect">
            <a:avLst/>
          </a:prstGeom>
          <a:noFill/>
          <a:ln>
            <a:noFill/>
          </a:ln>
        </p:spPr>
      </p:pic>
      <p:pic>
        <p:nvPicPr>
          <p:cNvPr id="7" name="Picture 6">
            <a:extLst>
              <a:ext uri="{FF2B5EF4-FFF2-40B4-BE49-F238E27FC236}">
                <a16:creationId xmlns:a16="http://schemas.microsoft.com/office/drawing/2014/main" id="{E796D59C-A5C2-50B2-44B7-A543BACACA35}"/>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065723" y="43075"/>
            <a:ext cx="1086948" cy="1275924"/>
          </a:xfrm>
          <a:prstGeom prst="rect">
            <a:avLst/>
          </a:prstGeom>
          <a:noFill/>
        </p:spPr>
      </p:pic>
    </p:spTree>
    <p:extLst>
      <p:ext uri="{BB962C8B-B14F-4D97-AF65-F5344CB8AC3E}">
        <p14:creationId xmlns:p14="http://schemas.microsoft.com/office/powerpoint/2010/main" val="9702932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335FE-AE0D-D8ED-7EA4-380BC74E7FD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CE4C54D-87B7-6AE9-5A19-E628E6285108}"/>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B00E4BB7-C045-B2C3-F8D3-307744998624}"/>
              </a:ext>
            </a:extLst>
          </p:cNvPr>
          <p:cNvPicPr>
            <a:picLocks noChangeAspect="1"/>
          </p:cNvPicPr>
          <p:nvPr/>
        </p:nvPicPr>
        <p:blipFill>
          <a:blip r:embed="rId2"/>
          <a:stretch>
            <a:fillRect/>
          </a:stretch>
        </p:blipFill>
        <p:spPr>
          <a:xfrm>
            <a:off x="845574" y="641137"/>
            <a:ext cx="10304207" cy="4826390"/>
          </a:xfrm>
          <a:prstGeom prst="rect">
            <a:avLst/>
          </a:prstGeom>
        </p:spPr>
      </p:pic>
    </p:spTree>
    <p:extLst>
      <p:ext uri="{BB962C8B-B14F-4D97-AF65-F5344CB8AC3E}">
        <p14:creationId xmlns:p14="http://schemas.microsoft.com/office/powerpoint/2010/main" val="16438696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D76A4-B949-B17A-A1E6-A6668DD89965}"/>
              </a:ext>
            </a:extLst>
          </p:cNvPr>
          <p:cNvSpPr>
            <a:spLocks noGrp="1"/>
          </p:cNvSpPr>
          <p:nvPr>
            <p:ph type="title"/>
          </p:nvPr>
        </p:nvSpPr>
        <p:spPr/>
        <p:txBody>
          <a:bodyPr>
            <a:normAutofit fontScale="90000"/>
          </a:bodyPr>
          <a:lstStyle/>
          <a:p>
            <a:r>
              <a:rPr lang="en-IN" sz="2400" b="1" dirty="0">
                <a:latin typeface="Times New Roman" panose="02020603050405020304" pitchFamily="18" charset="0"/>
                <a:cs typeface="Times New Roman" panose="02020603050405020304" pitchFamily="18" charset="0"/>
              </a:rPr>
              <a:t>4.software Components of a DBMS, Explaining Query Processor, Storage Manager, and Transaction Manager</a:t>
            </a:r>
            <a:r>
              <a:rPr lang="en-IN" dirty="0">
                <a:latin typeface="Times New Roman" panose="02020603050405020304" pitchFamily="18" charset="0"/>
                <a:cs typeface="Times New Roman" panose="02020603050405020304" pitchFamily="18" charset="0"/>
              </a:rPr>
              <a:t>.</a:t>
            </a:r>
          </a:p>
        </p:txBody>
      </p:sp>
      <p:sp>
        <p:nvSpPr>
          <p:cNvPr id="3" name="Content Placeholder 2">
            <a:extLst>
              <a:ext uri="{FF2B5EF4-FFF2-40B4-BE49-F238E27FC236}">
                <a16:creationId xmlns:a16="http://schemas.microsoft.com/office/drawing/2014/main" id="{66D3A680-EFF8-CFC2-6438-51A0488C1C0D}"/>
              </a:ext>
            </a:extLst>
          </p:cNvPr>
          <p:cNvSpPr>
            <a:spLocks noGrp="1"/>
          </p:cNvSpPr>
          <p:nvPr>
            <p:ph idx="1"/>
          </p:nvPr>
        </p:nvSpPr>
        <p:spPr>
          <a:xfrm>
            <a:off x="1651819" y="2635045"/>
            <a:ext cx="9403035" cy="2831300"/>
          </a:xfrm>
        </p:spPr>
        <p:txBody>
          <a:bodyPr/>
          <a:lstStyle/>
          <a:p>
            <a:r>
              <a:rPr lang="en-IN" dirty="0"/>
              <a:t>A </a:t>
            </a:r>
            <a:r>
              <a:rPr lang="en-IN" b="1" dirty="0"/>
              <a:t>Database Management System (DBMS)</a:t>
            </a:r>
            <a:r>
              <a:rPr lang="en-IN" dirty="0"/>
              <a:t> consists of several software components that work together to store, retrieve, manage, and protect data efficiently. These components ensure fast query processing, secure transactions, and reliable data storage.</a:t>
            </a:r>
          </a:p>
        </p:txBody>
      </p:sp>
      <p:pic>
        <p:nvPicPr>
          <p:cNvPr id="5" name="Picture 4">
            <a:extLst>
              <a:ext uri="{FF2B5EF4-FFF2-40B4-BE49-F238E27FC236}">
                <a16:creationId xmlns:a16="http://schemas.microsoft.com/office/drawing/2014/main" id="{2E33ED34-07D7-61EA-620A-20B48B555993}"/>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329" y="168736"/>
            <a:ext cx="1246239" cy="1206851"/>
          </a:xfrm>
          <a:prstGeom prst="rect">
            <a:avLst/>
          </a:prstGeom>
          <a:noFill/>
          <a:ln>
            <a:noFill/>
          </a:ln>
        </p:spPr>
      </p:pic>
      <p:pic>
        <p:nvPicPr>
          <p:cNvPr id="7" name="Picture 6">
            <a:extLst>
              <a:ext uri="{FF2B5EF4-FFF2-40B4-BE49-F238E27FC236}">
                <a16:creationId xmlns:a16="http://schemas.microsoft.com/office/drawing/2014/main" id="{885FE150-294E-9F4E-70AB-D1EF03297B2D}"/>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065723" y="43075"/>
            <a:ext cx="1086948" cy="1275924"/>
          </a:xfrm>
          <a:prstGeom prst="rect">
            <a:avLst/>
          </a:prstGeom>
          <a:noFill/>
        </p:spPr>
      </p:pic>
    </p:spTree>
    <p:extLst>
      <p:ext uri="{BB962C8B-B14F-4D97-AF65-F5344CB8AC3E}">
        <p14:creationId xmlns:p14="http://schemas.microsoft.com/office/powerpoint/2010/main" val="7859691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06BAB-A583-5B07-06B2-A52B622928A7}"/>
              </a:ext>
            </a:extLst>
          </p:cNvPr>
          <p:cNvSpPr>
            <a:spLocks noGrp="1"/>
          </p:cNvSpPr>
          <p:nvPr>
            <p:ph type="title"/>
          </p:nvPr>
        </p:nvSpPr>
        <p:spPr/>
        <p:txBody>
          <a:bodyPr/>
          <a:lstStyle/>
          <a:p>
            <a:r>
              <a:rPr lang="en-IN" b="1" dirty="0"/>
              <a:t>                           Objectives</a:t>
            </a:r>
            <a:br>
              <a:rPr lang="en-IN" b="1" dirty="0"/>
            </a:br>
            <a:endParaRPr lang="en-IN" dirty="0"/>
          </a:p>
        </p:txBody>
      </p:sp>
      <p:sp>
        <p:nvSpPr>
          <p:cNvPr id="3" name="Content Placeholder 2">
            <a:extLst>
              <a:ext uri="{FF2B5EF4-FFF2-40B4-BE49-F238E27FC236}">
                <a16:creationId xmlns:a16="http://schemas.microsoft.com/office/drawing/2014/main" id="{6F6A390A-176D-E6F7-0EBB-2A1A35911EB2}"/>
              </a:ext>
            </a:extLst>
          </p:cNvPr>
          <p:cNvSpPr>
            <a:spLocks noGrp="1"/>
          </p:cNvSpPr>
          <p:nvPr>
            <p:ph idx="1"/>
          </p:nvPr>
        </p:nvSpPr>
        <p:spPr/>
        <p:txBody>
          <a:bodyPr/>
          <a:lstStyle/>
          <a:p>
            <a:endParaRPr lang="en-IN" b="1" dirty="0"/>
          </a:p>
          <a:p>
            <a:r>
              <a:rPr lang="en-IN" dirty="0"/>
              <a:t>Efficient data retrieval </a:t>
            </a:r>
          </a:p>
          <a:p>
            <a:r>
              <a:rPr lang="en-IN" dirty="0"/>
              <a:t>Secure data storage </a:t>
            </a:r>
          </a:p>
          <a:p>
            <a:r>
              <a:rPr lang="en-IN" dirty="0"/>
              <a:t>Concurrent user access </a:t>
            </a:r>
          </a:p>
          <a:p>
            <a:r>
              <a:rPr lang="en-IN" dirty="0"/>
              <a:t>Data consistency and reliability</a:t>
            </a:r>
          </a:p>
          <a:p>
            <a:endParaRPr lang="en-IN" dirty="0"/>
          </a:p>
        </p:txBody>
      </p:sp>
      <p:pic>
        <p:nvPicPr>
          <p:cNvPr id="5" name="Picture 4">
            <a:extLst>
              <a:ext uri="{FF2B5EF4-FFF2-40B4-BE49-F238E27FC236}">
                <a16:creationId xmlns:a16="http://schemas.microsoft.com/office/drawing/2014/main" id="{064D3208-24A2-2BCA-00E9-C7B90FE61D6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329" y="168736"/>
            <a:ext cx="1246239" cy="1206851"/>
          </a:xfrm>
          <a:prstGeom prst="rect">
            <a:avLst/>
          </a:prstGeom>
          <a:noFill/>
          <a:ln>
            <a:noFill/>
          </a:ln>
        </p:spPr>
      </p:pic>
      <p:pic>
        <p:nvPicPr>
          <p:cNvPr id="7" name="Picture 6">
            <a:extLst>
              <a:ext uri="{FF2B5EF4-FFF2-40B4-BE49-F238E27FC236}">
                <a16:creationId xmlns:a16="http://schemas.microsoft.com/office/drawing/2014/main" id="{832CA2BC-FEE5-3BC2-2DD2-132403AB8D44}"/>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065723" y="43075"/>
            <a:ext cx="1086948" cy="1275924"/>
          </a:xfrm>
          <a:prstGeom prst="rect">
            <a:avLst/>
          </a:prstGeom>
          <a:noFill/>
        </p:spPr>
      </p:pic>
    </p:spTree>
    <p:extLst>
      <p:ext uri="{BB962C8B-B14F-4D97-AF65-F5344CB8AC3E}">
        <p14:creationId xmlns:p14="http://schemas.microsoft.com/office/powerpoint/2010/main" val="16414531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3C481-86F2-2ACE-BE14-E5269DF24E0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051ECA2-A660-173A-3583-C6EEC1C2EBFE}"/>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522469F5-61B7-10ED-1F78-468D04653CDF}"/>
              </a:ext>
            </a:extLst>
          </p:cNvPr>
          <p:cNvPicPr>
            <a:picLocks noChangeAspect="1"/>
          </p:cNvPicPr>
          <p:nvPr/>
        </p:nvPicPr>
        <p:blipFill>
          <a:blip r:embed="rId2"/>
          <a:stretch>
            <a:fillRect/>
          </a:stretch>
        </p:blipFill>
        <p:spPr>
          <a:xfrm>
            <a:off x="698091" y="212168"/>
            <a:ext cx="11159612" cy="5148670"/>
          </a:xfrm>
          <a:prstGeom prst="rect">
            <a:avLst/>
          </a:prstGeom>
        </p:spPr>
      </p:pic>
    </p:spTree>
    <p:extLst>
      <p:ext uri="{BB962C8B-B14F-4D97-AF65-F5344CB8AC3E}">
        <p14:creationId xmlns:p14="http://schemas.microsoft.com/office/powerpoint/2010/main" val="4110842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349C0-9407-53D9-833C-96A876B8D16A}"/>
              </a:ext>
            </a:extLst>
          </p:cNvPr>
          <p:cNvSpPr>
            <a:spLocks noGrp="1"/>
          </p:cNvSpPr>
          <p:nvPr>
            <p:ph type="title"/>
          </p:nvPr>
        </p:nvSpPr>
        <p:spPr/>
        <p:txBody>
          <a:bodyPr>
            <a:normAutofit fontScale="90000"/>
          </a:bodyPr>
          <a:lstStyle/>
          <a:p>
            <a:r>
              <a:rPr lang="en-IN" b="1" dirty="0"/>
              <a:t>5.Comparing Strong and Weak Entities in ER </a:t>
            </a:r>
            <a:r>
              <a:rPr lang="en-IN" b="1" dirty="0" err="1"/>
              <a:t>Modeling</a:t>
            </a:r>
            <a:r>
              <a:rPr lang="en-IN" b="1" dirty="0"/>
              <a:t> with Real-World Examples.</a:t>
            </a:r>
            <a:br>
              <a:rPr lang="en-IN" dirty="0"/>
            </a:br>
            <a:endParaRPr lang="en-IN" dirty="0"/>
          </a:p>
        </p:txBody>
      </p:sp>
      <p:sp>
        <p:nvSpPr>
          <p:cNvPr id="3" name="Content Placeholder 2">
            <a:extLst>
              <a:ext uri="{FF2B5EF4-FFF2-40B4-BE49-F238E27FC236}">
                <a16:creationId xmlns:a16="http://schemas.microsoft.com/office/drawing/2014/main" id="{EF5E98D6-108F-15FE-4E6C-A6D5D2DB9728}"/>
              </a:ext>
            </a:extLst>
          </p:cNvPr>
          <p:cNvSpPr>
            <a:spLocks noGrp="1"/>
          </p:cNvSpPr>
          <p:nvPr>
            <p:ph idx="1"/>
          </p:nvPr>
        </p:nvSpPr>
        <p:spPr>
          <a:xfrm>
            <a:off x="1681316" y="2487561"/>
            <a:ext cx="9373538" cy="2261420"/>
          </a:xfrm>
        </p:spPr>
        <p:txBody>
          <a:bodyPr/>
          <a:lstStyle/>
          <a:p>
            <a:r>
              <a:rPr lang="en-IN" dirty="0"/>
              <a:t>An </a:t>
            </a:r>
            <a:r>
              <a:rPr lang="en-IN" b="1" dirty="0"/>
              <a:t>Entity</a:t>
            </a:r>
            <a:r>
              <a:rPr lang="en-IN" dirty="0"/>
              <a:t> is a real-world object about which information is stored in a database. In an Entity-Relationship (ER) model, entities are classified into </a:t>
            </a:r>
            <a:r>
              <a:rPr lang="en-IN" b="1" dirty="0"/>
              <a:t>Strong Entities</a:t>
            </a:r>
            <a:r>
              <a:rPr lang="en-IN" dirty="0"/>
              <a:t> and </a:t>
            </a:r>
            <a:r>
              <a:rPr lang="en-IN" b="1" dirty="0"/>
              <a:t>Weak Entities</a:t>
            </a:r>
            <a:r>
              <a:rPr lang="en-IN" dirty="0"/>
              <a:t> based on whether they can be uniquely identified by their own attributes</a:t>
            </a:r>
          </a:p>
        </p:txBody>
      </p:sp>
      <p:pic>
        <p:nvPicPr>
          <p:cNvPr id="5" name="Picture 4">
            <a:extLst>
              <a:ext uri="{FF2B5EF4-FFF2-40B4-BE49-F238E27FC236}">
                <a16:creationId xmlns:a16="http://schemas.microsoft.com/office/drawing/2014/main" id="{8544E51D-A731-37A0-305E-0F385556BC4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329" y="168736"/>
            <a:ext cx="1246239" cy="1206851"/>
          </a:xfrm>
          <a:prstGeom prst="rect">
            <a:avLst/>
          </a:prstGeom>
          <a:noFill/>
          <a:ln>
            <a:noFill/>
          </a:ln>
        </p:spPr>
      </p:pic>
      <p:pic>
        <p:nvPicPr>
          <p:cNvPr id="7" name="Picture 6">
            <a:extLst>
              <a:ext uri="{FF2B5EF4-FFF2-40B4-BE49-F238E27FC236}">
                <a16:creationId xmlns:a16="http://schemas.microsoft.com/office/drawing/2014/main" id="{9418A384-0155-F219-1F84-5F9AF7DD45C7}"/>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065723" y="43075"/>
            <a:ext cx="1086948" cy="1275924"/>
          </a:xfrm>
          <a:prstGeom prst="rect">
            <a:avLst/>
          </a:prstGeom>
          <a:noFill/>
        </p:spPr>
      </p:pic>
    </p:spTree>
    <p:extLst>
      <p:ext uri="{BB962C8B-B14F-4D97-AF65-F5344CB8AC3E}">
        <p14:creationId xmlns:p14="http://schemas.microsoft.com/office/powerpoint/2010/main" val="3356497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3D2BC-A0B5-A13E-7522-CA5431C36FCE}"/>
              </a:ext>
            </a:extLst>
          </p:cNvPr>
          <p:cNvSpPr>
            <a:spLocks noGrp="1"/>
          </p:cNvSpPr>
          <p:nvPr>
            <p:ph type="title"/>
          </p:nvPr>
        </p:nvSpPr>
        <p:spPr/>
        <p:txBody>
          <a:bodyPr/>
          <a:lstStyle/>
          <a:p>
            <a:endParaRPr lang="en-IN" dirty="0"/>
          </a:p>
        </p:txBody>
      </p:sp>
      <p:graphicFrame>
        <p:nvGraphicFramePr>
          <p:cNvPr id="4" name="Content Placeholder 3">
            <a:extLst>
              <a:ext uri="{FF2B5EF4-FFF2-40B4-BE49-F238E27FC236}">
                <a16:creationId xmlns:a16="http://schemas.microsoft.com/office/drawing/2014/main" id="{311DFDE7-2C06-720E-5FD9-6AB9D02A2D6F}"/>
              </a:ext>
            </a:extLst>
          </p:cNvPr>
          <p:cNvGraphicFramePr>
            <a:graphicFrameLocks noGrp="1"/>
          </p:cNvGraphicFramePr>
          <p:nvPr>
            <p:ph idx="1"/>
            <p:extLst>
              <p:ext uri="{D42A27DB-BD31-4B8C-83A1-F6EECF244321}">
                <p14:modId xmlns:p14="http://schemas.microsoft.com/office/powerpoint/2010/main" val="2423778698"/>
              </p:ext>
            </p:extLst>
          </p:nvPr>
        </p:nvGraphicFramePr>
        <p:xfrm>
          <a:off x="1450975" y="2460784"/>
          <a:ext cx="9604374" cy="2560320"/>
        </p:xfrm>
        <a:graphic>
          <a:graphicData uri="http://schemas.openxmlformats.org/drawingml/2006/table">
            <a:tbl>
              <a:tblPr/>
              <a:tblGrid>
                <a:gridCol w="4802187">
                  <a:extLst>
                    <a:ext uri="{9D8B030D-6E8A-4147-A177-3AD203B41FA5}">
                      <a16:colId xmlns:a16="http://schemas.microsoft.com/office/drawing/2014/main" val="1111566252"/>
                    </a:ext>
                  </a:extLst>
                </a:gridCol>
                <a:gridCol w="4802187">
                  <a:extLst>
                    <a:ext uri="{9D8B030D-6E8A-4147-A177-3AD203B41FA5}">
                      <a16:colId xmlns:a16="http://schemas.microsoft.com/office/drawing/2014/main" val="3940616052"/>
                    </a:ext>
                  </a:extLst>
                </a:gridCol>
              </a:tblGrid>
              <a:tr h="365760">
                <a:tc>
                  <a:txBody>
                    <a:bodyPr/>
                    <a:lstStyle/>
                    <a:p>
                      <a:pPr>
                        <a:buNone/>
                      </a:pPr>
                      <a:r>
                        <a:rPr lang="en-IN" sz="1800" b="1" dirty="0"/>
                        <a:t>Strong Entity</a:t>
                      </a:r>
                    </a:p>
                  </a:txBody>
                  <a:tcPr anchor="ctr">
                    <a:lnL>
                      <a:noFill/>
                    </a:lnL>
                    <a:lnR>
                      <a:noFill/>
                    </a:lnR>
                    <a:lnT>
                      <a:noFill/>
                    </a:lnT>
                    <a:lnB>
                      <a:noFill/>
                    </a:lnB>
                    <a:noFill/>
                  </a:tcPr>
                </a:tc>
                <a:tc>
                  <a:txBody>
                    <a:bodyPr/>
                    <a:lstStyle/>
                    <a:p>
                      <a:pPr>
                        <a:buNone/>
                      </a:pPr>
                      <a:r>
                        <a:rPr lang="en-IN" sz="1800" b="1" dirty="0"/>
                        <a:t>Weak Entity</a:t>
                      </a:r>
                    </a:p>
                  </a:txBody>
                  <a:tcPr anchor="ctr">
                    <a:lnL>
                      <a:noFill/>
                    </a:lnL>
                    <a:lnR>
                      <a:noFill/>
                    </a:lnR>
                    <a:lnT>
                      <a:noFill/>
                    </a:lnT>
                    <a:lnB>
                      <a:noFill/>
                    </a:lnB>
                    <a:noFill/>
                  </a:tcPr>
                </a:tc>
                <a:extLst>
                  <a:ext uri="{0D108BD9-81ED-4DB2-BD59-A6C34878D82A}">
                    <a16:rowId xmlns:a16="http://schemas.microsoft.com/office/drawing/2014/main" val="4175989505"/>
                  </a:ext>
                </a:extLst>
              </a:tr>
              <a:tr h="365760">
                <a:tc>
                  <a:txBody>
                    <a:bodyPr/>
                    <a:lstStyle/>
                    <a:p>
                      <a:pPr>
                        <a:buNone/>
                      </a:pPr>
                      <a:r>
                        <a:rPr lang="en-IN" sz="1800"/>
                        <a:t>Has its own Primary Key</a:t>
                      </a:r>
                    </a:p>
                  </a:txBody>
                  <a:tcPr anchor="ctr">
                    <a:lnL>
                      <a:noFill/>
                    </a:lnL>
                    <a:lnR>
                      <a:noFill/>
                    </a:lnR>
                    <a:lnT>
                      <a:noFill/>
                    </a:lnT>
                    <a:lnB>
                      <a:noFill/>
                    </a:lnB>
                    <a:noFill/>
                  </a:tcPr>
                </a:tc>
                <a:tc>
                  <a:txBody>
                    <a:bodyPr/>
                    <a:lstStyle/>
                    <a:p>
                      <a:pPr>
                        <a:buNone/>
                      </a:pPr>
                      <a:r>
                        <a:rPr lang="en-IN" sz="1800"/>
                        <a:t>Does not have a complete Primary Key</a:t>
                      </a:r>
                    </a:p>
                  </a:txBody>
                  <a:tcPr anchor="ctr">
                    <a:lnL>
                      <a:noFill/>
                    </a:lnL>
                    <a:lnR>
                      <a:noFill/>
                    </a:lnR>
                    <a:lnT>
                      <a:noFill/>
                    </a:lnT>
                    <a:lnB>
                      <a:noFill/>
                    </a:lnB>
                    <a:noFill/>
                  </a:tcPr>
                </a:tc>
                <a:extLst>
                  <a:ext uri="{0D108BD9-81ED-4DB2-BD59-A6C34878D82A}">
                    <a16:rowId xmlns:a16="http://schemas.microsoft.com/office/drawing/2014/main" val="3301252607"/>
                  </a:ext>
                </a:extLst>
              </a:tr>
              <a:tr h="365760">
                <a:tc>
                  <a:txBody>
                    <a:bodyPr/>
                    <a:lstStyle/>
                    <a:p>
                      <a:pPr>
                        <a:buNone/>
                      </a:pPr>
                      <a:r>
                        <a:rPr lang="en-IN" sz="1800"/>
                        <a:t>Exists independently</a:t>
                      </a:r>
                    </a:p>
                  </a:txBody>
                  <a:tcPr anchor="ctr">
                    <a:lnL>
                      <a:noFill/>
                    </a:lnL>
                    <a:lnR>
                      <a:noFill/>
                    </a:lnR>
                    <a:lnT>
                      <a:noFill/>
                    </a:lnT>
                    <a:lnB>
                      <a:noFill/>
                    </a:lnB>
                    <a:noFill/>
                  </a:tcPr>
                </a:tc>
                <a:tc>
                  <a:txBody>
                    <a:bodyPr/>
                    <a:lstStyle/>
                    <a:p>
                      <a:pPr>
                        <a:buNone/>
                      </a:pPr>
                      <a:r>
                        <a:rPr lang="en-IN" sz="1800"/>
                        <a:t>Depends on a Strong Entity</a:t>
                      </a:r>
                    </a:p>
                  </a:txBody>
                  <a:tcPr anchor="ctr">
                    <a:lnL>
                      <a:noFill/>
                    </a:lnL>
                    <a:lnR>
                      <a:noFill/>
                    </a:lnR>
                    <a:lnT>
                      <a:noFill/>
                    </a:lnT>
                    <a:lnB>
                      <a:noFill/>
                    </a:lnB>
                    <a:noFill/>
                  </a:tcPr>
                </a:tc>
                <a:extLst>
                  <a:ext uri="{0D108BD9-81ED-4DB2-BD59-A6C34878D82A}">
                    <a16:rowId xmlns:a16="http://schemas.microsoft.com/office/drawing/2014/main" val="1543074421"/>
                  </a:ext>
                </a:extLst>
              </a:tr>
              <a:tr h="365760">
                <a:tc>
                  <a:txBody>
                    <a:bodyPr/>
                    <a:lstStyle/>
                    <a:p>
                      <a:pPr>
                        <a:buNone/>
                      </a:pPr>
                      <a:r>
                        <a:rPr lang="en-IN" sz="1800"/>
                        <a:t>Single Rectangle</a:t>
                      </a:r>
                    </a:p>
                  </a:txBody>
                  <a:tcPr anchor="ctr">
                    <a:lnL>
                      <a:noFill/>
                    </a:lnL>
                    <a:lnR>
                      <a:noFill/>
                    </a:lnR>
                    <a:lnT>
                      <a:noFill/>
                    </a:lnT>
                    <a:lnB>
                      <a:noFill/>
                    </a:lnB>
                    <a:noFill/>
                  </a:tcPr>
                </a:tc>
                <a:tc>
                  <a:txBody>
                    <a:bodyPr/>
                    <a:lstStyle/>
                    <a:p>
                      <a:pPr>
                        <a:buNone/>
                      </a:pPr>
                      <a:r>
                        <a:rPr lang="en-IN" sz="1800"/>
                        <a:t>Double Rectangle</a:t>
                      </a:r>
                    </a:p>
                  </a:txBody>
                  <a:tcPr anchor="ctr">
                    <a:lnL>
                      <a:noFill/>
                    </a:lnL>
                    <a:lnR>
                      <a:noFill/>
                    </a:lnR>
                    <a:lnT>
                      <a:noFill/>
                    </a:lnT>
                    <a:lnB>
                      <a:noFill/>
                    </a:lnB>
                    <a:noFill/>
                  </a:tcPr>
                </a:tc>
                <a:extLst>
                  <a:ext uri="{0D108BD9-81ED-4DB2-BD59-A6C34878D82A}">
                    <a16:rowId xmlns:a16="http://schemas.microsoft.com/office/drawing/2014/main" val="1575723245"/>
                  </a:ext>
                </a:extLst>
              </a:tr>
              <a:tr h="365760">
                <a:tc>
                  <a:txBody>
                    <a:bodyPr/>
                    <a:lstStyle/>
                    <a:p>
                      <a:pPr>
                        <a:buNone/>
                      </a:pPr>
                      <a:r>
                        <a:rPr lang="en-IN" sz="1800"/>
                        <a:t>Normal Relationship</a:t>
                      </a:r>
                    </a:p>
                  </a:txBody>
                  <a:tcPr anchor="ctr">
                    <a:lnL>
                      <a:noFill/>
                    </a:lnL>
                    <a:lnR>
                      <a:noFill/>
                    </a:lnR>
                    <a:lnT>
                      <a:noFill/>
                    </a:lnT>
                    <a:lnB>
                      <a:noFill/>
                    </a:lnB>
                    <a:noFill/>
                  </a:tcPr>
                </a:tc>
                <a:tc>
                  <a:txBody>
                    <a:bodyPr/>
                    <a:lstStyle/>
                    <a:p>
                      <a:pPr>
                        <a:buNone/>
                      </a:pPr>
                      <a:r>
                        <a:rPr lang="en-IN" sz="1800"/>
                        <a:t>Identifying Relationship</a:t>
                      </a:r>
                    </a:p>
                  </a:txBody>
                  <a:tcPr anchor="ctr">
                    <a:lnL>
                      <a:noFill/>
                    </a:lnL>
                    <a:lnR>
                      <a:noFill/>
                    </a:lnR>
                    <a:lnT>
                      <a:noFill/>
                    </a:lnT>
                    <a:lnB>
                      <a:noFill/>
                    </a:lnB>
                    <a:noFill/>
                  </a:tcPr>
                </a:tc>
                <a:extLst>
                  <a:ext uri="{0D108BD9-81ED-4DB2-BD59-A6C34878D82A}">
                    <a16:rowId xmlns:a16="http://schemas.microsoft.com/office/drawing/2014/main" val="1920661103"/>
                  </a:ext>
                </a:extLst>
              </a:tr>
              <a:tr h="365760">
                <a:tc>
                  <a:txBody>
                    <a:bodyPr/>
                    <a:lstStyle/>
                    <a:p>
                      <a:pPr>
                        <a:buNone/>
                      </a:pPr>
                      <a:r>
                        <a:rPr lang="en-IN" sz="1800"/>
                        <a:t>Primary Key</a:t>
                      </a:r>
                    </a:p>
                  </a:txBody>
                  <a:tcPr anchor="ctr">
                    <a:lnL>
                      <a:noFill/>
                    </a:lnL>
                    <a:lnR>
                      <a:noFill/>
                    </a:lnR>
                    <a:lnT>
                      <a:noFill/>
                    </a:lnT>
                    <a:lnB>
                      <a:noFill/>
                    </a:lnB>
                    <a:noFill/>
                  </a:tcPr>
                </a:tc>
                <a:tc>
                  <a:txBody>
                    <a:bodyPr/>
                    <a:lstStyle/>
                    <a:p>
                      <a:pPr>
                        <a:buNone/>
                      </a:pPr>
                      <a:r>
                        <a:rPr lang="en-IN" sz="1800"/>
                        <a:t>Partial Key</a:t>
                      </a:r>
                    </a:p>
                  </a:txBody>
                  <a:tcPr anchor="ctr">
                    <a:lnL>
                      <a:noFill/>
                    </a:lnL>
                    <a:lnR>
                      <a:noFill/>
                    </a:lnR>
                    <a:lnT>
                      <a:noFill/>
                    </a:lnT>
                    <a:lnB>
                      <a:noFill/>
                    </a:lnB>
                    <a:noFill/>
                  </a:tcPr>
                </a:tc>
                <a:extLst>
                  <a:ext uri="{0D108BD9-81ED-4DB2-BD59-A6C34878D82A}">
                    <a16:rowId xmlns:a16="http://schemas.microsoft.com/office/drawing/2014/main" val="625794200"/>
                  </a:ext>
                </a:extLst>
              </a:tr>
              <a:tr h="365760">
                <a:tc>
                  <a:txBody>
                    <a:bodyPr/>
                    <a:lstStyle/>
                    <a:p>
                      <a:pPr>
                        <a:buNone/>
                      </a:pPr>
                      <a:r>
                        <a:rPr lang="en-IN" sz="1800"/>
                        <a:t>Example: Employee</a:t>
                      </a:r>
                    </a:p>
                  </a:txBody>
                  <a:tcPr anchor="ctr">
                    <a:lnL>
                      <a:noFill/>
                    </a:lnL>
                    <a:lnR>
                      <a:noFill/>
                    </a:lnR>
                    <a:lnT>
                      <a:noFill/>
                    </a:lnT>
                    <a:lnB>
                      <a:noFill/>
                    </a:lnB>
                    <a:noFill/>
                  </a:tcPr>
                </a:tc>
                <a:tc>
                  <a:txBody>
                    <a:bodyPr/>
                    <a:lstStyle/>
                    <a:p>
                      <a:pPr>
                        <a:buNone/>
                      </a:pPr>
                      <a:r>
                        <a:rPr lang="en-IN" sz="1800" dirty="0"/>
                        <a:t>Example: Dependent</a:t>
                      </a:r>
                    </a:p>
                  </a:txBody>
                  <a:tcPr anchor="ctr">
                    <a:lnL>
                      <a:noFill/>
                    </a:lnL>
                    <a:lnR>
                      <a:noFill/>
                    </a:lnR>
                    <a:lnT>
                      <a:noFill/>
                    </a:lnT>
                    <a:lnB>
                      <a:noFill/>
                    </a:lnB>
                    <a:noFill/>
                  </a:tcPr>
                </a:tc>
                <a:extLst>
                  <a:ext uri="{0D108BD9-81ED-4DB2-BD59-A6C34878D82A}">
                    <a16:rowId xmlns:a16="http://schemas.microsoft.com/office/drawing/2014/main" val="1721216849"/>
                  </a:ext>
                </a:extLst>
              </a:tr>
            </a:tbl>
          </a:graphicData>
        </a:graphic>
      </p:graphicFrame>
      <p:sp>
        <p:nvSpPr>
          <p:cNvPr id="6" name="TextBox 5">
            <a:extLst>
              <a:ext uri="{FF2B5EF4-FFF2-40B4-BE49-F238E27FC236}">
                <a16:creationId xmlns:a16="http://schemas.microsoft.com/office/drawing/2014/main" id="{CDF1D237-C654-1B4D-A5FC-412323B1F42F}"/>
              </a:ext>
            </a:extLst>
          </p:cNvPr>
          <p:cNvSpPr txBox="1"/>
          <p:nvPr/>
        </p:nvSpPr>
        <p:spPr>
          <a:xfrm>
            <a:off x="2477729" y="908495"/>
            <a:ext cx="6662507" cy="584775"/>
          </a:xfrm>
          <a:prstGeom prst="rect">
            <a:avLst/>
          </a:prstGeom>
          <a:noFill/>
        </p:spPr>
        <p:txBody>
          <a:bodyPr wrap="square">
            <a:spAutoFit/>
          </a:bodyPr>
          <a:lstStyle/>
          <a:p>
            <a:pPr>
              <a:buNone/>
            </a:pPr>
            <a:r>
              <a:rPr lang="en-IN" sz="3200" b="1"/>
              <a:t>Strong Entity vs Weak Entity</a:t>
            </a:r>
            <a:endParaRPr lang="en-IN" sz="3200" b="1" dirty="0"/>
          </a:p>
        </p:txBody>
      </p:sp>
      <p:graphicFrame>
        <p:nvGraphicFramePr>
          <p:cNvPr id="7" name="Table 6">
            <a:extLst>
              <a:ext uri="{FF2B5EF4-FFF2-40B4-BE49-F238E27FC236}">
                <a16:creationId xmlns:a16="http://schemas.microsoft.com/office/drawing/2014/main" id="{5AD2F951-1892-F56D-2E96-A797D89743B3}"/>
              </a:ext>
            </a:extLst>
          </p:cNvPr>
          <p:cNvGraphicFramePr>
            <a:graphicFrameLocks noGrp="1"/>
          </p:cNvGraphicFramePr>
          <p:nvPr/>
        </p:nvGraphicFramePr>
        <p:xfrm>
          <a:off x="1450975" y="2460784"/>
          <a:ext cx="9604374" cy="2560320"/>
        </p:xfrm>
        <a:graphic>
          <a:graphicData uri="http://schemas.openxmlformats.org/drawingml/2006/table">
            <a:tbl>
              <a:tblPr/>
              <a:tblGrid>
                <a:gridCol w="4802187">
                  <a:extLst>
                    <a:ext uri="{9D8B030D-6E8A-4147-A177-3AD203B41FA5}">
                      <a16:colId xmlns:a16="http://schemas.microsoft.com/office/drawing/2014/main" val="2417300241"/>
                    </a:ext>
                  </a:extLst>
                </a:gridCol>
                <a:gridCol w="4802187">
                  <a:extLst>
                    <a:ext uri="{9D8B030D-6E8A-4147-A177-3AD203B41FA5}">
                      <a16:colId xmlns:a16="http://schemas.microsoft.com/office/drawing/2014/main" val="4065239296"/>
                    </a:ext>
                  </a:extLst>
                </a:gridCol>
              </a:tblGrid>
              <a:tr h="365760">
                <a:tc>
                  <a:txBody>
                    <a:bodyPr/>
                    <a:lstStyle/>
                    <a:p>
                      <a:pPr>
                        <a:buNone/>
                      </a:pPr>
                      <a:r>
                        <a:rPr lang="en-IN" sz="1800" dirty="0"/>
                        <a:t>Strong Entity</a:t>
                      </a:r>
                    </a:p>
                  </a:txBody>
                  <a:tcPr anchor="ctr">
                    <a:lnL>
                      <a:noFill/>
                    </a:lnL>
                    <a:lnR>
                      <a:noFill/>
                    </a:lnR>
                    <a:lnT>
                      <a:noFill/>
                    </a:lnT>
                    <a:lnB>
                      <a:noFill/>
                    </a:lnB>
                    <a:noFill/>
                  </a:tcPr>
                </a:tc>
                <a:tc>
                  <a:txBody>
                    <a:bodyPr/>
                    <a:lstStyle/>
                    <a:p>
                      <a:pPr>
                        <a:buNone/>
                      </a:pPr>
                      <a:r>
                        <a:rPr lang="en-IN" sz="1800"/>
                        <a:t>Weak Entity</a:t>
                      </a:r>
                    </a:p>
                  </a:txBody>
                  <a:tcPr anchor="ctr">
                    <a:lnL>
                      <a:noFill/>
                    </a:lnL>
                    <a:lnR>
                      <a:noFill/>
                    </a:lnR>
                    <a:lnT>
                      <a:noFill/>
                    </a:lnT>
                    <a:lnB>
                      <a:noFill/>
                    </a:lnB>
                    <a:noFill/>
                  </a:tcPr>
                </a:tc>
                <a:extLst>
                  <a:ext uri="{0D108BD9-81ED-4DB2-BD59-A6C34878D82A}">
                    <a16:rowId xmlns:a16="http://schemas.microsoft.com/office/drawing/2014/main" val="568227587"/>
                  </a:ext>
                </a:extLst>
              </a:tr>
              <a:tr h="365760">
                <a:tc>
                  <a:txBody>
                    <a:bodyPr/>
                    <a:lstStyle/>
                    <a:p>
                      <a:pPr>
                        <a:buNone/>
                      </a:pPr>
                      <a:r>
                        <a:rPr lang="en-IN" sz="1800"/>
                        <a:t>Has its own Primary Key</a:t>
                      </a:r>
                    </a:p>
                  </a:txBody>
                  <a:tcPr anchor="ctr">
                    <a:lnL>
                      <a:noFill/>
                    </a:lnL>
                    <a:lnR>
                      <a:noFill/>
                    </a:lnR>
                    <a:lnT>
                      <a:noFill/>
                    </a:lnT>
                    <a:lnB>
                      <a:noFill/>
                    </a:lnB>
                    <a:noFill/>
                  </a:tcPr>
                </a:tc>
                <a:tc>
                  <a:txBody>
                    <a:bodyPr/>
                    <a:lstStyle/>
                    <a:p>
                      <a:pPr>
                        <a:buNone/>
                      </a:pPr>
                      <a:r>
                        <a:rPr lang="en-IN" sz="1800"/>
                        <a:t>Does not have a complete Primary Key</a:t>
                      </a:r>
                    </a:p>
                  </a:txBody>
                  <a:tcPr anchor="ctr">
                    <a:lnL>
                      <a:noFill/>
                    </a:lnL>
                    <a:lnR>
                      <a:noFill/>
                    </a:lnR>
                    <a:lnT>
                      <a:noFill/>
                    </a:lnT>
                    <a:lnB>
                      <a:noFill/>
                    </a:lnB>
                    <a:noFill/>
                  </a:tcPr>
                </a:tc>
                <a:extLst>
                  <a:ext uri="{0D108BD9-81ED-4DB2-BD59-A6C34878D82A}">
                    <a16:rowId xmlns:a16="http://schemas.microsoft.com/office/drawing/2014/main" val="1962045294"/>
                  </a:ext>
                </a:extLst>
              </a:tr>
              <a:tr h="365760">
                <a:tc>
                  <a:txBody>
                    <a:bodyPr/>
                    <a:lstStyle/>
                    <a:p>
                      <a:pPr>
                        <a:buNone/>
                      </a:pPr>
                      <a:r>
                        <a:rPr lang="en-IN" sz="1800"/>
                        <a:t>Exists independently</a:t>
                      </a:r>
                    </a:p>
                  </a:txBody>
                  <a:tcPr anchor="ctr">
                    <a:lnL>
                      <a:noFill/>
                    </a:lnL>
                    <a:lnR>
                      <a:noFill/>
                    </a:lnR>
                    <a:lnT>
                      <a:noFill/>
                    </a:lnT>
                    <a:lnB>
                      <a:noFill/>
                    </a:lnB>
                    <a:noFill/>
                  </a:tcPr>
                </a:tc>
                <a:tc>
                  <a:txBody>
                    <a:bodyPr/>
                    <a:lstStyle/>
                    <a:p>
                      <a:pPr>
                        <a:buNone/>
                      </a:pPr>
                      <a:r>
                        <a:rPr lang="en-IN" sz="1800"/>
                        <a:t>Depends on a Strong Entity</a:t>
                      </a:r>
                    </a:p>
                  </a:txBody>
                  <a:tcPr anchor="ctr">
                    <a:lnL>
                      <a:noFill/>
                    </a:lnL>
                    <a:lnR>
                      <a:noFill/>
                    </a:lnR>
                    <a:lnT>
                      <a:noFill/>
                    </a:lnT>
                    <a:lnB>
                      <a:noFill/>
                    </a:lnB>
                    <a:noFill/>
                  </a:tcPr>
                </a:tc>
                <a:extLst>
                  <a:ext uri="{0D108BD9-81ED-4DB2-BD59-A6C34878D82A}">
                    <a16:rowId xmlns:a16="http://schemas.microsoft.com/office/drawing/2014/main" val="2810592218"/>
                  </a:ext>
                </a:extLst>
              </a:tr>
              <a:tr h="365760">
                <a:tc>
                  <a:txBody>
                    <a:bodyPr/>
                    <a:lstStyle/>
                    <a:p>
                      <a:pPr>
                        <a:buNone/>
                      </a:pPr>
                      <a:r>
                        <a:rPr lang="en-IN" sz="1800"/>
                        <a:t>Single Rectangle</a:t>
                      </a:r>
                    </a:p>
                  </a:txBody>
                  <a:tcPr anchor="ctr">
                    <a:lnL>
                      <a:noFill/>
                    </a:lnL>
                    <a:lnR>
                      <a:noFill/>
                    </a:lnR>
                    <a:lnT>
                      <a:noFill/>
                    </a:lnT>
                    <a:lnB>
                      <a:noFill/>
                    </a:lnB>
                    <a:noFill/>
                  </a:tcPr>
                </a:tc>
                <a:tc>
                  <a:txBody>
                    <a:bodyPr/>
                    <a:lstStyle/>
                    <a:p>
                      <a:pPr>
                        <a:buNone/>
                      </a:pPr>
                      <a:r>
                        <a:rPr lang="en-IN" sz="1800"/>
                        <a:t>Double Rectangle</a:t>
                      </a:r>
                    </a:p>
                  </a:txBody>
                  <a:tcPr anchor="ctr">
                    <a:lnL>
                      <a:noFill/>
                    </a:lnL>
                    <a:lnR>
                      <a:noFill/>
                    </a:lnR>
                    <a:lnT>
                      <a:noFill/>
                    </a:lnT>
                    <a:lnB>
                      <a:noFill/>
                    </a:lnB>
                    <a:noFill/>
                  </a:tcPr>
                </a:tc>
                <a:extLst>
                  <a:ext uri="{0D108BD9-81ED-4DB2-BD59-A6C34878D82A}">
                    <a16:rowId xmlns:a16="http://schemas.microsoft.com/office/drawing/2014/main" val="321358806"/>
                  </a:ext>
                </a:extLst>
              </a:tr>
              <a:tr h="365760">
                <a:tc>
                  <a:txBody>
                    <a:bodyPr/>
                    <a:lstStyle/>
                    <a:p>
                      <a:pPr>
                        <a:buNone/>
                      </a:pPr>
                      <a:r>
                        <a:rPr lang="en-IN" sz="1800"/>
                        <a:t>Normal Relationship</a:t>
                      </a:r>
                    </a:p>
                  </a:txBody>
                  <a:tcPr anchor="ctr">
                    <a:lnL>
                      <a:noFill/>
                    </a:lnL>
                    <a:lnR>
                      <a:noFill/>
                    </a:lnR>
                    <a:lnT>
                      <a:noFill/>
                    </a:lnT>
                    <a:lnB>
                      <a:noFill/>
                    </a:lnB>
                    <a:noFill/>
                  </a:tcPr>
                </a:tc>
                <a:tc>
                  <a:txBody>
                    <a:bodyPr/>
                    <a:lstStyle/>
                    <a:p>
                      <a:pPr>
                        <a:buNone/>
                      </a:pPr>
                      <a:r>
                        <a:rPr lang="en-IN" sz="1800"/>
                        <a:t>Identifying Relationship</a:t>
                      </a:r>
                    </a:p>
                  </a:txBody>
                  <a:tcPr anchor="ctr">
                    <a:lnL>
                      <a:noFill/>
                    </a:lnL>
                    <a:lnR>
                      <a:noFill/>
                    </a:lnR>
                    <a:lnT>
                      <a:noFill/>
                    </a:lnT>
                    <a:lnB>
                      <a:noFill/>
                    </a:lnB>
                    <a:noFill/>
                  </a:tcPr>
                </a:tc>
                <a:extLst>
                  <a:ext uri="{0D108BD9-81ED-4DB2-BD59-A6C34878D82A}">
                    <a16:rowId xmlns:a16="http://schemas.microsoft.com/office/drawing/2014/main" val="4126490630"/>
                  </a:ext>
                </a:extLst>
              </a:tr>
              <a:tr h="365760">
                <a:tc>
                  <a:txBody>
                    <a:bodyPr/>
                    <a:lstStyle/>
                    <a:p>
                      <a:pPr>
                        <a:buNone/>
                      </a:pPr>
                      <a:r>
                        <a:rPr lang="en-IN" sz="1800"/>
                        <a:t>Primary Key</a:t>
                      </a:r>
                    </a:p>
                  </a:txBody>
                  <a:tcPr anchor="ctr">
                    <a:lnL>
                      <a:noFill/>
                    </a:lnL>
                    <a:lnR>
                      <a:noFill/>
                    </a:lnR>
                    <a:lnT>
                      <a:noFill/>
                    </a:lnT>
                    <a:lnB>
                      <a:noFill/>
                    </a:lnB>
                    <a:noFill/>
                  </a:tcPr>
                </a:tc>
                <a:tc>
                  <a:txBody>
                    <a:bodyPr/>
                    <a:lstStyle/>
                    <a:p>
                      <a:pPr>
                        <a:buNone/>
                      </a:pPr>
                      <a:r>
                        <a:rPr lang="en-IN" sz="1800"/>
                        <a:t>Partial Key</a:t>
                      </a:r>
                    </a:p>
                  </a:txBody>
                  <a:tcPr anchor="ctr">
                    <a:lnL>
                      <a:noFill/>
                    </a:lnL>
                    <a:lnR>
                      <a:noFill/>
                    </a:lnR>
                    <a:lnT>
                      <a:noFill/>
                    </a:lnT>
                    <a:lnB>
                      <a:noFill/>
                    </a:lnB>
                    <a:noFill/>
                  </a:tcPr>
                </a:tc>
                <a:extLst>
                  <a:ext uri="{0D108BD9-81ED-4DB2-BD59-A6C34878D82A}">
                    <a16:rowId xmlns:a16="http://schemas.microsoft.com/office/drawing/2014/main" val="2806005731"/>
                  </a:ext>
                </a:extLst>
              </a:tr>
              <a:tr h="365760">
                <a:tc>
                  <a:txBody>
                    <a:bodyPr/>
                    <a:lstStyle/>
                    <a:p>
                      <a:pPr>
                        <a:buNone/>
                      </a:pPr>
                      <a:r>
                        <a:rPr lang="en-IN" sz="1800"/>
                        <a:t>Example: Employee</a:t>
                      </a:r>
                    </a:p>
                  </a:txBody>
                  <a:tcPr anchor="ctr">
                    <a:lnL>
                      <a:noFill/>
                    </a:lnL>
                    <a:lnR>
                      <a:noFill/>
                    </a:lnR>
                    <a:lnT>
                      <a:noFill/>
                    </a:lnT>
                    <a:lnB>
                      <a:noFill/>
                    </a:lnB>
                    <a:noFill/>
                  </a:tcPr>
                </a:tc>
                <a:tc>
                  <a:txBody>
                    <a:bodyPr/>
                    <a:lstStyle/>
                    <a:p>
                      <a:pPr>
                        <a:buNone/>
                      </a:pPr>
                      <a:r>
                        <a:rPr lang="en-IN" sz="1800" dirty="0"/>
                        <a:t>Example: Dependent</a:t>
                      </a:r>
                    </a:p>
                  </a:txBody>
                  <a:tcPr anchor="ctr">
                    <a:lnL>
                      <a:noFill/>
                    </a:lnL>
                    <a:lnR>
                      <a:noFill/>
                    </a:lnR>
                    <a:lnT>
                      <a:noFill/>
                    </a:lnT>
                    <a:lnB>
                      <a:noFill/>
                    </a:lnB>
                    <a:noFill/>
                  </a:tcPr>
                </a:tc>
                <a:extLst>
                  <a:ext uri="{0D108BD9-81ED-4DB2-BD59-A6C34878D82A}">
                    <a16:rowId xmlns:a16="http://schemas.microsoft.com/office/drawing/2014/main" val="3109587444"/>
                  </a:ext>
                </a:extLst>
              </a:tr>
            </a:tbl>
          </a:graphicData>
        </a:graphic>
      </p:graphicFrame>
      <p:sp>
        <p:nvSpPr>
          <p:cNvPr id="9" name="TextBox 8">
            <a:extLst>
              <a:ext uri="{FF2B5EF4-FFF2-40B4-BE49-F238E27FC236}">
                <a16:creationId xmlns:a16="http://schemas.microsoft.com/office/drawing/2014/main" id="{BC2DBF23-4868-AA53-2113-3057FB9C69E6}"/>
              </a:ext>
            </a:extLst>
          </p:cNvPr>
          <p:cNvSpPr txBox="1"/>
          <p:nvPr/>
        </p:nvSpPr>
        <p:spPr>
          <a:xfrm>
            <a:off x="3050458" y="3251708"/>
            <a:ext cx="6100916" cy="369332"/>
          </a:xfrm>
          <a:prstGeom prst="rect">
            <a:avLst/>
          </a:prstGeom>
          <a:noFill/>
        </p:spPr>
        <p:txBody>
          <a:bodyPr wrap="square">
            <a:spAutoFit/>
          </a:bodyPr>
          <a:lstStyle/>
          <a:p>
            <a:pPr>
              <a:buNone/>
            </a:pPr>
            <a:r>
              <a:rPr lang="en-IN" b="1" dirty="0"/>
              <a:t>Strong Entity vs Weak Entity</a:t>
            </a:r>
          </a:p>
        </p:txBody>
      </p:sp>
      <p:pic>
        <p:nvPicPr>
          <p:cNvPr id="11" name="Picture 10">
            <a:extLst>
              <a:ext uri="{FF2B5EF4-FFF2-40B4-BE49-F238E27FC236}">
                <a16:creationId xmlns:a16="http://schemas.microsoft.com/office/drawing/2014/main" id="{0A800696-C44F-291B-ED25-E15274C835AA}"/>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065723" y="43075"/>
            <a:ext cx="1086948" cy="1275924"/>
          </a:xfrm>
          <a:prstGeom prst="rect">
            <a:avLst/>
          </a:prstGeom>
          <a:noFill/>
        </p:spPr>
      </p:pic>
      <p:pic>
        <p:nvPicPr>
          <p:cNvPr id="13" name="Picture 12">
            <a:extLst>
              <a:ext uri="{FF2B5EF4-FFF2-40B4-BE49-F238E27FC236}">
                <a16:creationId xmlns:a16="http://schemas.microsoft.com/office/drawing/2014/main" id="{BC423A91-3F9D-F6EE-86E7-4D552E2D135D}"/>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329" y="168736"/>
            <a:ext cx="1246239" cy="1206851"/>
          </a:xfrm>
          <a:prstGeom prst="rect">
            <a:avLst/>
          </a:prstGeom>
          <a:noFill/>
          <a:ln>
            <a:noFill/>
          </a:ln>
        </p:spPr>
      </p:pic>
    </p:spTree>
    <p:extLst>
      <p:ext uri="{BB962C8B-B14F-4D97-AF65-F5344CB8AC3E}">
        <p14:creationId xmlns:p14="http://schemas.microsoft.com/office/powerpoint/2010/main" val="32252606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494CA-017C-7BBD-756D-3756E83889E8}"/>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6DB10191-BADE-EBF0-BDAE-30472B08E503}"/>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9795F743-16BA-7186-3D7C-57C90B54B54D}"/>
              </a:ext>
            </a:extLst>
          </p:cNvPr>
          <p:cNvPicPr>
            <a:picLocks noChangeAspect="1"/>
          </p:cNvPicPr>
          <p:nvPr/>
        </p:nvPicPr>
        <p:blipFill>
          <a:blip r:embed="rId2"/>
          <a:stretch>
            <a:fillRect/>
          </a:stretch>
        </p:blipFill>
        <p:spPr>
          <a:xfrm>
            <a:off x="963562" y="109163"/>
            <a:ext cx="10163714" cy="5524721"/>
          </a:xfrm>
          <a:prstGeom prst="rect">
            <a:avLst/>
          </a:prstGeom>
        </p:spPr>
      </p:pic>
    </p:spTree>
    <p:extLst>
      <p:ext uri="{BB962C8B-B14F-4D97-AF65-F5344CB8AC3E}">
        <p14:creationId xmlns:p14="http://schemas.microsoft.com/office/powerpoint/2010/main" val="4902954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59C20-57C3-BDDD-08C9-0B1DEDDB707A}"/>
              </a:ext>
            </a:extLst>
          </p:cNvPr>
          <p:cNvSpPr>
            <a:spLocks noGrp="1"/>
          </p:cNvSpPr>
          <p:nvPr>
            <p:ph type="title"/>
          </p:nvPr>
        </p:nvSpPr>
        <p:spPr>
          <a:xfrm>
            <a:off x="3746090" y="2800467"/>
            <a:ext cx="7662725" cy="1049235"/>
          </a:xfrm>
        </p:spPr>
        <p:txBody>
          <a:bodyPr/>
          <a:lstStyle/>
          <a:p>
            <a:r>
              <a:rPr lang="en-IN" dirty="0"/>
              <a:t>THANK YOU</a:t>
            </a:r>
          </a:p>
        </p:txBody>
      </p:sp>
      <p:sp>
        <p:nvSpPr>
          <p:cNvPr id="3" name="Content Placeholder 2">
            <a:extLst>
              <a:ext uri="{FF2B5EF4-FFF2-40B4-BE49-F238E27FC236}">
                <a16:creationId xmlns:a16="http://schemas.microsoft.com/office/drawing/2014/main" id="{E6FE3780-597D-EFF1-F660-5E4A9A188C65}"/>
              </a:ext>
            </a:extLst>
          </p:cNvPr>
          <p:cNvSpPr>
            <a:spLocks noGrp="1"/>
          </p:cNvSpPr>
          <p:nvPr>
            <p:ph idx="1"/>
          </p:nvPr>
        </p:nvSpPr>
        <p:spPr/>
        <p:txBody>
          <a:bodyPr/>
          <a:lstStyle/>
          <a:p>
            <a:pPr marL="0" indent="0">
              <a:buNone/>
            </a:pPr>
            <a:endParaRPr lang="en-IN" dirty="0"/>
          </a:p>
        </p:txBody>
      </p:sp>
    </p:spTree>
    <p:extLst>
      <p:ext uri="{BB962C8B-B14F-4D97-AF65-F5344CB8AC3E}">
        <p14:creationId xmlns:p14="http://schemas.microsoft.com/office/powerpoint/2010/main" val="3722488335"/>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42</TotalTime>
  <Words>524</Words>
  <Application>Microsoft Office PowerPoint</Application>
  <PresentationFormat>Widescreen</PresentationFormat>
  <Paragraphs>88</Paragraphs>
  <Slides>19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Gill Sans MT</vt:lpstr>
      <vt:lpstr>Times New Roman</vt:lpstr>
      <vt:lpstr>Gallery</vt:lpstr>
      <vt:lpstr>Csa0509- database management SYSTEMS</vt:lpstr>
      <vt:lpstr>            An ER Diagram for an              Online Library System </vt:lpstr>
      <vt:lpstr>                                 OBJECTIVES</vt:lpstr>
      <vt:lpstr>PowerPoint Presentation</vt:lpstr>
      <vt:lpstr>                                                                    ADVANTAGES </vt:lpstr>
      <vt:lpstr>2.Demonstrating Generalization and Specialization with a University Case Study.</vt:lpstr>
      <vt:lpstr>                                 FEATURES</vt:lpstr>
      <vt:lpstr>                              APPLICATIONS</vt:lpstr>
      <vt:lpstr>PowerPoint Presentation</vt:lpstr>
      <vt:lpstr>3.concept of Data Independence (Logical and Physical) and its significance in DBMS Architecture.</vt:lpstr>
      <vt:lpstr>                             OBJECTIVES</vt:lpstr>
      <vt:lpstr>PowerPoint Presentation</vt:lpstr>
      <vt:lpstr>4.software Components of a DBMS, Explaining Query Processor, Storage Manager, and Transaction Manager.</vt:lpstr>
      <vt:lpstr>                           Objectives </vt:lpstr>
      <vt:lpstr>PowerPoint Presentation</vt:lpstr>
      <vt:lpstr>5.Comparing Strong and Weak Entities in ER Modeling with Real-World Examples. </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sharmila M</dc:creator>
  <cp:lastModifiedBy>sharmila M</cp:lastModifiedBy>
  <cp:revision>1</cp:revision>
  <dcterms:created xsi:type="dcterms:W3CDTF">2026-07-22T17:03:36Z</dcterms:created>
  <dcterms:modified xsi:type="dcterms:W3CDTF">2026-07-22T17:46:35Z</dcterms:modified>
</cp:coreProperties>
</file>